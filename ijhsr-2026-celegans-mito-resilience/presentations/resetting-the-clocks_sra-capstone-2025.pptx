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Figtree"/>
      <p:regular r:id="rId29"/>
      <p:bold r:id="rId30"/>
      <p:italic r:id="rId31"/>
      <p:boldItalic r:id="rId32"/>
    </p:embeddedFont>
    <p:embeddedFont>
      <p:font typeface="Figtree Black"/>
      <p:bold r:id="rId33"/>
      <p:boldItalic r:id="rId34"/>
    </p:embeddedFont>
    <p:embeddedFont>
      <p:font typeface="Hanken Grotesk"/>
      <p:regular r:id="rId35"/>
      <p:bold r:id="rId36"/>
      <p:italic r:id="rId37"/>
      <p:boldItalic r:id="rId38"/>
    </p:embeddedFont>
    <p:embeddedFont>
      <p:font typeface="La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71674D-6C5B-4BB3-AA03-F0F8AF424868}">
  <a:tblStyle styleId="{5071674D-6C5B-4BB3-AA03-F0F8AF4248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.fntdata"/><Relationship Id="rId20" Type="http://schemas.openxmlformats.org/officeDocument/2006/relationships/slide" Target="slides/slide14.xml"/><Relationship Id="rId42" Type="http://schemas.openxmlformats.org/officeDocument/2006/relationships/font" Target="fonts/Lato-boldItalic.fntdata"/><Relationship Id="rId41" Type="http://schemas.openxmlformats.org/officeDocument/2006/relationships/font" Target="fonts/Lat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Figtree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gtree-italic.fntdata"/><Relationship Id="rId30" Type="http://schemas.openxmlformats.org/officeDocument/2006/relationships/font" Target="fonts/Figtree-bold.fntdata"/><Relationship Id="rId11" Type="http://schemas.openxmlformats.org/officeDocument/2006/relationships/slide" Target="slides/slide5.xml"/><Relationship Id="rId33" Type="http://schemas.openxmlformats.org/officeDocument/2006/relationships/font" Target="fonts/FigtreeBlack-bold.fntdata"/><Relationship Id="rId10" Type="http://schemas.openxmlformats.org/officeDocument/2006/relationships/slide" Target="slides/slide4.xml"/><Relationship Id="rId32" Type="http://schemas.openxmlformats.org/officeDocument/2006/relationships/font" Target="fonts/Figtree-boldItalic.fntdata"/><Relationship Id="rId13" Type="http://schemas.openxmlformats.org/officeDocument/2006/relationships/slide" Target="slides/slide7.xml"/><Relationship Id="rId35" Type="http://schemas.openxmlformats.org/officeDocument/2006/relationships/font" Target="fonts/HankenGrotesk-regular.fntdata"/><Relationship Id="rId12" Type="http://schemas.openxmlformats.org/officeDocument/2006/relationships/slide" Target="slides/slide6.xml"/><Relationship Id="rId34" Type="http://schemas.openxmlformats.org/officeDocument/2006/relationships/font" Target="fonts/FigtreeBlack-boldItalic.fntdata"/><Relationship Id="rId15" Type="http://schemas.openxmlformats.org/officeDocument/2006/relationships/slide" Target="slides/slide9.xml"/><Relationship Id="rId37" Type="http://schemas.openxmlformats.org/officeDocument/2006/relationships/font" Target="fonts/HankenGrotesk-italic.fntdata"/><Relationship Id="rId14" Type="http://schemas.openxmlformats.org/officeDocument/2006/relationships/slide" Target="slides/slide8.xml"/><Relationship Id="rId36" Type="http://schemas.openxmlformats.org/officeDocument/2006/relationships/font" Target="fonts/HankenGrotesk-bold.fntdata"/><Relationship Id="rId17" Type="http://schemas.openxmlformats.org/officeDocument/2006/relationships/slide" Target="slides/slide11.xml"/><Relationship Id="rId39" Type="http://schemas.openxmlformats.org/officeDocument/2006/relationships/font" Target="fonts/Lato-regular.fntdata"/><Relationship Id="rId16" Type="http://schemas.openxmlformats.org/officeDocument/2006/relationships/slide" Target="slides/slide10.xml"/><Relationship Id="rId38" Type="http://schemas.openxmlformats.org/officeDocument/2006/relationships/font" Target="fonts/HankenGrotesk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768ca7ef44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768ca7ef44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title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44eafae94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44eafae94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Shorten the bullet points. Looks like there is a lot of clutter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44eafae94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44eafae94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bullet points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44eafae94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44eafae94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 too much info. Shorten and make sure to only cover important stuff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44eafae94d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44eafae94d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6f67a24de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6f67a24de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Update with the new flowchart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6f67a24de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6f67a24de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bullet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6f6e581e9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6f6e581e9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 bullet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6f67a24de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6f67a24de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6f67a24de1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6f67a24de1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6f67a24de1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6f67a24de1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6f67a24de1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6f67a24de1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6f67a24de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6f67a24de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 bullet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6f67a24de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6f67a24de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 bullet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6f67a24de1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6f67a24de1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 bullet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6f71c71f9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6f71c71f9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6f6e581e9a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6f6e581e9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Add bullet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6f67a24de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6f67a24de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detail…mb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6f6e581e9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6f6e581e9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indepth. Add more slides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6f67a24de1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6f67a24de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161ca7da69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161ca7da6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2" name="Google Shape;12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" name="Google Shape;13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20" name="Google Shape;20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" name="Google Shape;21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" name="Google Shape;22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" name="Google Shape;23;p3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30" name="Google Shape;30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" name="Google Shape;31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2" name="Google Shape;32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3" name="Google Shape;33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39" name="Google Shape;39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0" name="Google Shape;40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" name="Google Shape;41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" name="Google Shape;4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45" name="Google Shape;45;p5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6" name="Google Shape;46;p5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7" name="Google Shape;47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" name="Google Shape;50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51" name="Google Shape;51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52" name="Google Shape;52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53" name="Google Shape;53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4" name="Google Shape;54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5" name="Google Shape;55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7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61" name="Google Shape;61;p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" name="Google Shape;62;p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3" name="Google Shape;63;p7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" name="Google Shape;64;p7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5" name="Google Shape;65;p7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6" name="Google Shape;66;p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8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70" name="Google Shape;70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71" name="Google Shape;71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2" name="Google Shape;72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3" name="Google Shape;73;p8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4" name="Google Shape;74;p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7" name="Google Shape;77;p9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78" name="Google Shape;78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9" name="Google Shape;79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0" name="Google Shape;80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1" name="Google Shape;81;p9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" name="Google Shape;82;p9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" name="Google Shape;90;p11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91" name="Google Shape;91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2" name="Google Shape;92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" name="Google Shape;93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" name="Google Shape;94;p11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6" name="Google Shape;96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" name="Google Shape;101;p1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02" name="Google Shape;102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3" name="Google Shape;103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4" name="Google Shape;104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5" name="Google Shape;105;p13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6" name="Google Shape;106;p13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3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3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3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3"/>
          <p:cNvSpPr txBox="1"/>
          <p:nvPr>
            <p:ph hasCustomPrompt="1"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1" name="Google Shape;111;p13"/>
          <p:cNvSpPr txBox="1"/>
          <p:nvPr>
            <p:ph hasCustomPrompt="1"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2" name="Google Shape;112;p13"/>
          <p:cNvSpPr txBox="1"/>
          <p:nvPr>
            <p:ph hasCustomPrompt="1"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3" name="Google Shape;113;p13"/>
          <p:cNvSpPr txBox="1"/>
          <p:nvPr>
            <p:ph hasCustomPrompt="1"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4" name="Google Shape;114;p13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3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3"/>
          <p:cNvSpPr txBox="1"/>
          <p:nvPr>
            <p:ph hasCustomPrompt="1"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/>
          <p:nvPr>
            <p:ph hasCustomPrompt="1"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9" name="Google Shape;119;p13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20" name="Google Shape;120;p13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21" name="Google Shape;121;p13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22" name="Google Shape;122;p13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23" name="Google Shape;123;p13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24" name="Google Shape;12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128" name="Google Shape;128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9" name="Google Shape;129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" name="Google Shape;130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1" name="Google Shape;131;p14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14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3" name="Google Shape;133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" name="Google Shape;136;p15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37" name="Google Shape;137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8" name="Google Shape;138;p1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9" name="Google Shape;139;p15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0" name="Google Shape;140;p15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5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" name="Google Shape;145;p16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46" name="Google Shape;146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7" name="Google Shape;147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9" name="Google Shape;149;p16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0" name="Google Shape;150;p16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" name="Google Shape;154;p17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155" name="Google Shape;155;p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" name="Google Shape;156;p17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7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8" name="Google Shape;158;p17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9" name="Google Shape;159;p17"/>
          <p:cNvSpPr txBox="1"/>
          <p:nvPr>
            <p:ph idx="1" type="subTitle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0" name="Google Shape;160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3" name="Google Shape;163;p18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164" name="Google Shape;164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5" name="Google Shape;165;p1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6" name="Google Shape;166;p18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7" name="Google Shape;167;p18"/>
          <p:cNvSpPr txBox="1"/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68" name="Google Shape;168;p18"/>
          <p:cNvSpPr txBox="1"/>
          <p:nvPr>
            <p:ph idx="1" type="subTitle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9" name="Google Shape;169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" name="Google Shape;172;p19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73" name="Google Shape;173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" name="Google Shape;175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6" name="Google Shape;17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7" name="Google Shape;177;p19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9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19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9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1" name="Google Shape;181;p19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2" name="Google Shape;182;p19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83" name="Google Shape;183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6" name="Google Shape;186;p20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187" name="Google Shape;187;p20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8" name="Google Shape;188;p20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" name="Google Shape;189;p20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0" name="Google Shape;190;p20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91" name="Google Shape;191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" name="Google Shape;192;p2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20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4" name="Google Shape;194;p20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5" name="Google Shape;195;p20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0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20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9" name="Google Shape;199;p20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1" name="Google Shape;20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4" name="Google Shape;204;p21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205" name="Google Shape;205;p2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6" name="Google Shape;206;p21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7" name="Google Shape;207;p21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8" name="Google Shape;208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9" name="Google Shape;209;p21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1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1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1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13" name="Google Shape;213;p21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14" name="Google Shape;214;p21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15" name="Google Shape;215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2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8" name="Google Shape;218;p22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19" name="Google Shape;219;p2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0" name="Google Shape;220;p22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22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2" name="Google Shape;22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2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2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2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2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8" name="Google Shape;228;p22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9" name="Google Shape;229;p22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30" name="Google Shape;230;p22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31" name="Google Shape;231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" name="Google Shape;234;p23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35" name="Google Shape;235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36" name="Google Shape;236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7" name="Google Shape;237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38" name="Google Shape;238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9" name="Google Shape;239;p23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3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23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3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23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3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3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46" name="Google Shape;246;p23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47" name="Google Shape;247;p23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48" name="Google Shape;248;p23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49" name="Google Shape;249;p23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50" name="Google Shape;250;p23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51" name="Google Shape;251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" name="Google Shape;254;p24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255" name="Google Shape;255;p24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256" name="Google Shape;256;p24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57" name="Google Shape;257;p24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58" name="Google Shape;258;p24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59" name="Google Shape;259;p24"/>
          <p:cNvSpPr txBox="1"/>
          <p:nvPr>
            <p:ph hasCustomPrompt="1"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0" name="Google Shape;260;p24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1" name="Google Shape;261;p24"/>
          <p:cNvSpPr txBox="1"/>
          <p:nvPr>
            <p:ph hasCustomPrompt="1"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2" name="Google Shape;262;p24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24"/>
          <p:cNvSpPr txBox="1"/>
          <p:nvPr>
            <p:ph hasCustomPrompt="1"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4" name="Google Shape;264;p24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25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69" name="Google Shape;269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0" name="Google Shape;270;p25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1" name="Google Shape;271;p25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2" name="Google Shape;272;p2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73" name="Google Shape;273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6" name="Google Shape;276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77" name="Google Shape;277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78" name="Google Shape;278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0" name="Google Shape;280;p2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81" name="Google Shape;28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" name="Google Shape;284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85" name="Google Shape;285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86" name="Google Shape;286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7" name="Google Shape;287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88" name="Google Shape;288;p27"/>
          <p:cNvSpPr txBox="1"/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9" name="Google Shape;289;p27"/>
          <p:cNvSpPr txBox="1"/>
          <p:nvPr>
            <p:ph idx="1" type="subTitle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27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sz="1200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91" name="Google Shape;291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4" name="Google Shape;294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95" name="Google Shape;295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6" name="Google Shape;296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97" name="Google Shape;297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8" name="Google Shape;298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99" name="Google Shape;299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2" name="Google Shape;302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303" name="Google Shape;303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4" name="Google Shape;304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05" name="Google Shape;305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06" name="Google Shape;306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1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8.png"/><Relationship Id="rId4" Type="http://schemas.openxmlformats.org/officeDocument/2006/relationships/image" Target="../media/image15.png"/><Relationship Id="rId9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20.png"/><Relationship Id="rId8" Type="http://schemas.openxmlformats.org/officeDocument/2006/relationships/image" Target="../media/image12.png"/><Relationship Id="rId11" Type="http://schemas.openxmlformats.org/officeDocument/2006/relationships/image" Target="../media/image17.png"/><Relationship Id="rId10" Type="http://schemas.openxmlformats.org/officeDocument/2006/relationships/image" Target="../media/image6.png"/><Relationship Id="rId13" Type="http://schemas.openxmlformats.org/officeDocument/2006/relationships/image" Target="../media/image5.png"/><Relationship Id="rId12" Type="http://schemas.openxmlformats.org/officeDocument/2006/relationships/image" Target="../media/image2.png"/><Relationship Id="rId15" Type="http://schemas.openxmlformats.org/officeDocument/2006/relationships/image" Target="../media/image1.png"/><Relationship Id="rId14" Type="http://schemas.openxmlformats.org/officeDocument/2006/relationships/image" Target="../media/image16.png"/><Relationship Id="rId17" Type="http://schemas.openxmlformats.org/officeDocument/2006/relationships/image" Target="../media/image9.png"/><Relationship Id="rId16" Type="http://schemas.openxmlformats.org/officeDocument/2006/relationships/image" Target="../media/image8.png"/><Relationship Id="rId19" Type="http://schemas.openxmlformats.org/officeDocument/2006/relationships/image" Target="../media/image3.png"/><Relationship Id="rId18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9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Relationship Id="rId6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idx="1" type="subTitle"/>
          </p:nvPr>
        </p:nvSpPr>
        <p:spPr>
          <a:xfrm>
            <a:off x="1087125" y="2571738"/>
            <a:ext cx="589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1220"/>
              <a:t>Mansi Mandal</a:t>
            </a:r>
            <a:r>
              <a:rPr baseline="30000" lang="en" sz="1220"/>
              <a:t>1</a:t>
            </a:r>
            <a:r>
              <a:rPr lang="en" sz="1220"/>
              <a:t>, Mohammed Yasar Meeran</a:t>
            </a:r>
            <a:r>
              <a:rPr baseline="30000" lang="en" sz="1220"/>
              <a:t>2</a:t>
            </a:r>
            <a:r>
              <a:rPr lang="en" sz="1220"/>
              <a:t>, Aaryan Samanta</a:t>
            </a:r>
            <a:r>
              <a:rPr baseline="30000" lang="en" sz="1220"/>
              <a:t>3</a:t>
            </a:r>
            <a:endParaRPr sz="122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en" sz="1000"/>
              <a:t>Mountain House High School</a:t>
            </a:r>
            <a:r>
              <a:rPr baseline="30000" lang="en" sz="1000"/>
              <a:t>1</a:t>
            </a:r>
            <a:r>
              <a:rPr lang="en" sz="1000"/>
              <a:t>, Lebanon Trail High School</a:t>
            </a:r>
            <a:r>
              <a:rPr baseline="30000" lang="en" sz="1000"/>
              <a:t>2</a:t>
            </a:r>
            <a:r>
              <a:rPr lang="en" sz="1000"/>
              <a:t>, Monta Vista High School</a:t>
            </a:r>
            <a:r>
              <a:rPr baseline="30000" lang="en" sz="1000"/>
              <a:t>3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SRA Track 5 - Molecular Clock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SRA Capstone Seminar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July 24, 2025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2" name="Google Shape;312;p30"/>
          <p:cNvSpPr txBox="1"/>
          <p:nvPr>
            <p:ph idx="1" type="subTitle"/>
          </p:nvPr>
        </p:nvSpPr>
        <p:spPr>
          <a:xfrm>
            <a:off x="6202675" y="3727350"/>
            <a:ext cx="1603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Image: Pixabay (https://pixabay.com/illustrations/mitochondrion-cell-biology-6258212/)</a:t>
            </a:r>
            <a:endParaRPr sz="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13" name="Google Shape;313;p30"/>
          <p:cNvSpPr txBox="1"/>
          <p:nvPr>
            <p:ph type="ctrTitle"/>
          </p:nvPr>
        </p:nvSpPr>
        <p:spPr>
          <a:xfrm>
            <a:off x="1087125" y="976163"/>
            <a:ext cx="5897400" cy="13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Resetting the Clocks: Mitochondrial Quality Control </a:t>
            </a:r>
            <a:r>
              <a:rPr lang="en" sz="3000"/>
              <a:t>via</a:t>
            </a:r>
            <a:r>
              <a:rPr lang="en" sz="3000"/>
              <a:t> Genetic Adaptation</a:t>
            </a:r>
            <a:endParaRPr sz="3000"/>
          </a:p>
        </p:txBody>
      </p:sp>
      <p:pic>
        <p:nvPicPr>
          <p:cNvPr id="314" name="Google Shape;3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125" y="4203150"/>
            <a:ext cx="2201003" cy="281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ownload Mitochondrion, Cell, Biology. Royalty-Free Stock Illustration  Image - Pixabay" id="315" name="Google Shape;31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80" y="2133488"/>
            <a:ext cx="2200999" cy="1685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Mitochondrial Disease &amp; Aging</a:t>
            </a:r>
            <a:endParaRPr/>
          </a:p>
        </p:txBody>
      </p:sp>
      <p:sp>
        <p:nvSpPr>
          <p:cNvPr id="321" name="Google Shape;321;p31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2" name="Google Shape;322;p31" title="Screenshot 2025-07-23 at 10.25.2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9017" y="978025"/>
            <a:ext cx="5459035" cy="372465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1"/>
          <p:cNvSpPr txBox="1"/>
          <p:nvPr/>
        </p:nvSpPr>
        <p:spPr>
          <a:xfrm>
            <a:off x="493925" y="1250675"/>
            <a:ext cx="3334200" cy="3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anken Grotesk"/>
              <a:buChar char="●"/>
            </a:pPr>
            <a:r>
              <a:rPr lang="en" sz="155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According to Cleveland Clinic, 1 in 5000 are affected by genetic mitochondrial diseases.</a:t>
            </a:r>
            <a:endParaRPr sz="155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702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Hanken Grotesk"/>
              <a:buChar char="●"/>
            </a:pPr>
            <a:r>
              <a:rPr lang="en" sz="155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In just 13 years, the prevalence of adult mitochondrial diseases in Southwest Finland doubled from 4.6 to 9.2 per 100,000.</a:t>
            </a:r>
            <a:endParaRPr sz="155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2" title="Screenshot 2025-07-19 at 1.38.37 PM.png"/>
          <p:cNvPicPr preferRelativeResize="0"/>
          <p:nvPr/>
        </p:nvPicPr>
        <p:blipFill rotWithShape="1">
          <a:blip r:embed="rId3">
            <a:alphaModFix/>
          </a:blip>
          <a:srcRect b="358" l="0" r="527" t="0"/>
          <a:stretch/>
        </p:blipFill>
        <p:spPr>
          <a:xfrm>
            <a:off x="1395225" y="259450"/>
            <a:ext cx="6574802" cy="4607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2" title="Screenshot 2025-07-19 at 12.57.3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2776" y="4003328"/>
            <a:ext cx="1212004" cy="76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2" title="Screenshot 2025-07-19 at 1.08.13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9736" y="2651218"/>
            <a:ext cx="1010155" cy="39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2" title="Screenshot 2025-07-19 at 1.34.00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809239">
            <a:off x="2482373" y="1378764"/>
            <a:ext cx="1143172" cy="404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2" title="Screenshot 2025-07-19 at 1.39.38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37587" y="3416388"/>
            <a:ext cx="1010154" cy="510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32" title="Screenshot 2025-07-19 at 1.41.59 P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49245" y="1141267"/>
            <a:ext cx="799752" cy="314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2" title="Screenshot 2025-07-19 at 1.43.20 P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 rot="10800000">
            <a:off x="5127541" y="344856"/>
            <a:ext cx="766046" cy="314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2" title="Screenshot 2025-07-19 at 1.44.40 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33787" y="344855"/>
            <a:ext cx="916443" cy="368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2" title="Screenshot 2025-07-19 at 1.46.54 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880498" y="2309420"/>
            <a:ext cx="720482" cy="706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2" title="Screenshot 2025-07-19 at 1.48.04 PM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85682" y="2309419"/>
            <a:ext cx="526690" cy="399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2" title="Screenshot 2025-07-19 at 1.49.41 PM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547751" y="3863786"/>
            <a:ext cx="1114304" cy="7061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2" title="Screenshot 2025-07-19 at 1.54.32 PM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4250228" y="2293505"/>
            <a:ext cx="1504096" cy="449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2" title="Screenshot 2025-07-19 at 1.55.20 P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535800" y="870250"/>
            <a:ext cx="1657900" cy="4521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2" title="Screenshot 2025-07-19 at 1.55.27 PM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63454" y="4344674"/>
            <a:ext cx="1504098" cy="478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 title="Screenshot 2025-07-19 at 1.57.04 PM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4053660" y="2872815"/>
            <a:ext cx="1540731" cy="413777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426839" y="2497199"/>
            <a:ext cx="20310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82200" lIns="82200" spcFirstLastPara="1" rIns="82200" wrap="square" tIns="82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Fusion</a:t>
            </a:r>
            <a:endParaRPr b="1" sz="2517"/>
          </a:p>
        </p:txBody>
      </p:sp>
      <p:pic>
        <p:nvPicPr>
          <p:cNvPr id="344" name="Google Shape;344;p32" title="Screenshot 2025-07-19 at 1.55.03 PM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317783" y="3015600"/>
            <a:ext cx="1540723" cy="432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32" title="Screenshot 2025-07-19 at 1.55.12 PM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060536" y="3592069"/>
            <a:ext cx="1657898" cy="40934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2"/>
          <p:cNvSpPr txBox="1"/>
          <p:nvPr/>
        </p:nvSpPr>
        <p:spPr>
          <a:xfrm>
            <a:off x="426839" y="896034"/>
            <a:ext cx="23172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82200" lIns="82200" spcFirstLastPara="1" rIns="82200" wrap="square" tIns="82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9">
              <a:solidFill>
                <a:srgbClr val="595959"/>
              </a:solidFill>
            </a:endParaRPr>
          </a:p>
        </p:txBody>
      </p:sp>
      <p:sp>
        <p:nvSpPr>
          <p:cNvPr id="347" name="Google Shape;347;p32"/>
          <p:cNvSpPr txBox="1"/>
          <p:nvPr/>
        </p:nvSpPr>
        <p:spPr>
          <a:xfrm>
            <a:off x="403239" y="713447"/>
            <a:ext cx="23643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82200" lIns="82200" spcFirstLastPara="1" rIns="82200" wrap="square" tIns="82200">
            <a:spAutoFit/>
          </a:bodyPr>
          <a:lstStyle/>
          <a:p>
            <a:pPr indent="-294436" lvl="0" marL="41107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Divides mitochondria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4436" lvl="0" marL="41107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Isolates damaged parts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8" name="Google Shape;348;p32"/>
          <p:cNvSpPr txBox="1"/>
          <p:nvPr/>
        </p:nvSpPr>
        <p:spPr>
          <a:xfrm>
            <a:off x="403238" y="3050694"/>
            <a:ext cx="2364300" cy="11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2200" lIns="82200" spcFirstLastPara="1" rIns="82200" wrap="square" tIns="82200">
            <a:spAutoFit/>
          </a:bodyPr>
          <a:lstStyle/>
          <a:p>
            <a:pPr indent="-294436" lvl="0" marL="41107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Combines mitochondria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4436" lvl="0" marL="41107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Boosts energy production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9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49" name="Google Shape;349;p32"/>
          <p:cNvSpPr txBox="1"/>
          <p:nvPr/>
        </p:nvSpPr>
        <p:spPr>
          <a:xfrm>
            <a:off x="425375" y="259457"/>
            <a:ext cx="20310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82200" lIns="82200" spcFirstLastPara="1" rIns="82200" wrap="square" tIns="82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Fission</a:t>
            </a:r>
            <a:endParaRPr b="1" sz="2517"/>
          </a:p>
        </p:txBody>
      </p:sp>
      <p:sp>
        <p:nvSpPr>
          <p:cNvPr id="350" name="Google Shape;350;p32"/>
          <p:cNvSpPr txBox="1"/>
          <p:nvPr/>
        </p:nvSpPr>
        <p:spPr>
          <a:xfrm>
            <a:off x="6662038" y="344850"/>
            <a:ext cx="300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Mitophagy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6662050" y="843215"/>
            <a:ext cx="19815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82200" lIns="82200" spcFirstLastPara="1" rIns="82200" wrap="square" tIns="82200">
            <a:spAutoFit/>
          </a:bodyPr>
          <a:lstStyle/>
          <a:p>
            <a:pPr indent="-294436" lvl="0" marL="41107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Mitochondria degraded in the lysosome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294436" lvl="0" marL="411074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Prevents buildup of damaged mitochondria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822149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99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52" name="Google Shape;352;p32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33" title="Screenshot 2025-07-23 at 10.17.22 PM.png"/>
          <p:cNvPicPr preferRelativeResize="0"/>
          <p:nvPr/>
        </p:nvPicPr>
        <p:blipFill rotWithShape="1">
          <a:blip r:embed="rId3">
            <a:alphaModFix/>
          </a:blip>
          <a:srcRect b="12899" l="0" r="0" t="0"/>
          <a:stretch/>
        </p:blipFill>
        <p:spPr>
          <a:xfrm>
            <a:off x="2256700" y="409425"/>
            <a:ext cx="4414898" cy="4048102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Genetic Pathway</a:t>
            </a:r>
            <a:endParaRPr/>
          </a:p>
        </p:txBody>
      </p:sp>
      <p:sp>
        <p:nvSpPr>
          <p:cNvPr id="359" name="Google Shape;359;p33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0" name="Google Shape;360;p33" title="Screenshot 2025-07-23 at 10.13.01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8175" y="1746250"/>
            <a:ext cx="1960125" cy="157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3" title="Screenshot 2025-07-23 at 10.13.14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82125" y="2691493"/>
            <a:ext cx="857250" cy="62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3" title="Screenshot 2025-07-23 at 10.26.40 PM.png"/>
          <p:cNvPicPr preferRelativeResize="0"/>
          <p:nvPr/>
        </p:nvPicPr>
        <p:blipFill rotWithShape="1">
          <a:blip r:embed="rId6">
            <a:alphaModFix/>
          </a:blip>
          <a:srcRect b="0" l="0" r="1107" t="0"/>
          <a:stretch/>
        </p:blipFill>
        <p:spPr>
          <a:xfrm>
            <a:off x="4513625" y="4371550"/>
            <a:ext cx="2203125" cy="46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/>
        </p:nvSpPr>
        <p:spPr>
          <a:xfrm>
            <a:off x="372525" y="3042475"/>
            <a:ext cx="4293600" cy="15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- Previous studies have looked at the </a:t>
            </a:r>
            <a:r>
              <a:rPr i="1" lang="en"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N2</a:t>
            </a:r>
            <a:r>
              <a:rPr lang="en"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C. </a:t>
            </a:r>
            <a:r>
              <a:rPr lang="en"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elegans</a:t>
            </a:r>
            <a:r>
              <a:rPr lang="en"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strain but have not studied wild type strains </a:t>
            </a:r>
            <a:r>
              <a:rPr i="1" lang="en"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CX11314</a:t>
            </a:r>
            <a:r>
              <a:rPr lang="en"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</a:t>
            </a:r>
            <a:r>
              <a:rPr i="1" lang="en"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EG4725</a:t>
            </a:r>
            <a:r>
              <a:rPr lang="en"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.</a:t>
            </a:r>
            <a:endParaRPr sz="13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- Scientists have also identified the genes that play a role in maintaining mitochondrial health.</a:t>
            </a:r>
            <a:endParaRPr sz="13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68" name="Google Shape;368;p34"/>
          <p:cNvSpPr txBox="1"/>
          <p:nvPr>
            <p:ph idx="1" type="body"/>
          </p:nvPr>
        </p:nvSpPr>
        <p:spPr>
          <a:xfrm>
            <a:off x="720000" y="1079675"/>
            <a:ext cx="4897800" cy="152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- </a:t>
            </a:r>
            <a:r>
              <a:rPr lang="en" sz="1300"/>
              <a:t>Why C. Elegans?</a:t>
            </a:r>
            <a:endParaRPr sz="13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1300"/>
              <a:t>Simple anatomy</a:t>
            </a:r>
            <a:endParaRPr sz="13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1300"/>
              <a:t>Short life span</a:t>
            </a:r>
            <a:endParaRPr sz="13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1300"/>
              <a:t>Hermaphrodite</a:t>
            </a:r>
            <a:endParaRPr sz="13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1300"/>
              <a:t>Well studied genome</a:t>
            </a:r>
            <a:endParaRPr sz="1300"/>
          </a:p>
          <a:p>
            <a:pPr indent="-273050" lvl="0" marL="457200" rtl="0" algn="l">
              <a:spcBef>
                <a:spcPts val="0"/>
              </a:spcBef>
              <a:spcAft>
                <a:spcPts val="0"/>
              </a:spcAft>
              <a:buSzPts val="700"/>
              <a:buChar char="●"/>
            </a:pPr>
            <a:r>
              <a:rPr lang="en" sz="1300"/>
              <a:t>Human orthologs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369" name="Google Shape;36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Organism: </a:t>
            </a:r>
            <a:r>
              <a:rPr i="1" lang="en"/>
              <a:t>Caenorhabditis elegans</a:t>
            </a:r>
            <a:endParaRPr i="1"/>
          </a:p>
        </p:txBody>
      </p:sp>
      <p:pic>
        <p:nvPicPr>
          <p:cNvPr id="370" name="Google Shape;37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8909" y="1079675"/>
            <a:ext cx="4586990" cy="15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4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34"/>
          <p:cNvSpPr txBox="1"/>
          <p:nvPr>
            <p:ph idx="4294967295" type="subTitle"/>
          </p:nvPr>
        </p:nvSpPr>
        <p:spPr>
          <a:xfrm>
            <a:off x="6974700" y="2437325"/>
            <a:ext cx="1603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Hardin Lab, University of Wisconsin–Madison</a:t>
            </a:r>
            <a:endParaRPr sz="1000"/>
          </a:p>
        </p:txBody>
      </p:sp>
      <p:pic>
        <p:nvPicPr>
          <p:cNvPr id="373" name="Google Shape;37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0450" y="2774150"/>
            <a:ext cx="3482225" cy="18558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4"/>
          <p:cNvSpPr txBox="1"/>
          <p:nvPr>
            <p:ph idx="4294967295" type="subTitle"/>
          </p:nvPr>
        </p:nvSpPr>
        <p:spPr>
          <a:xfrm>
            <a:off x="6029050" y="4332725"/>
            <a:ext cx="16038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/>
              <a:t>Cook et al., 2017, Andersen Lab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</a:t>
            </a:r>
            <a:endParaRPr/>
          </a:p>
        </p:txBody>
      </p:sp>
      <p:sp>
        <p:nvSpPr>
          <p:cNvPr id="380" name="Google Shape;380;p35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Research Question: What </a:t>
            </a:r>
            <a:r>
              <a:rPr b="1" lang="en" sz="1500"/>
              <a:t>genetic variants</a:t>
            </a:r>
            <a:r>
              <a:rPr lang="en" sz="1500"/>
              <a:t> in </a:t>
            </a:r>
            <a:r>
              <a:rPr b="1" lang="en" sz="1500"/>
              <a:t>mitochondrial morphology</a:t>
            </a:r>
            <a:r>
              <a:rPr lang="en" sz="1500"/>
              <a:t> and </a:t>
            </a:r>
            <a:r>
              <a:rPr b="1" lang="en" sz="1500"/>
              <a:t>mitophagy-related genes</a:t>
            </a:r>
            <a:r>
              <a:rPr lang="en" sz="1500"/>
              <a:t> contribute to the regulation of </a:t>
            </a:r>
            <a:r>
              <a:rPr b="1" lang="en" sz="1500"/>
              <a:t>mitochondrial quality and heteroplasmy</a:t>
            </a:r>
            <a:r>
              <a:rPr lang="en" sz="1500"/>
              <a:t> in the C. elegans strains </a:t>
            </a:r>
            <a:r>
              <a:rPr b="1" i="1" lang="en" sz="1500"/>
              <a:t>CX11314</a:t>
            </a:r>
            <a:r>
              <a:rPr lang="en" sz="1500"/>
              <a:t> and </a:t>
            </a:r>
            <a:r>
              <a:rPr b="1" i="1" lang="en" sz="1500"/>
              <a:t>EG4725</a:t>
            </a:r>
            <a:r>
              <a:rPr lang="en" sz="1500"/>
              <a:t> compared to the </a:t>
            </a:r>
            <a:r>
              <a:rPr b="1" i="1" lang="en" sz="1500"/>
              <a:t>N2</a:t>
            </a:r>
            <a:r>
              <a:rPr lang="en" sz="1500"/>
              <a:t> reference strain?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Hypothesis: We hypothesize that </a:t>
            </a:r>
            <a:r>
              <a:rPr b="1" lang="en" sz="1500"/>
              <a:t>natural genetic variation</a:t>
            </a:r>
            <a:r>
              <a:rPr lang="en" sz="1500"/>
              <a:t> in </a:t>
            </a:r>
            <a:r>
              <a:rPr b="1" lang="en" sz="1500"/>
              <a:t>mitochondrial morphology</a:t>
            </a:r>
            <a:r>
              <a:rPr lang="en" sz="1500"/>
              <a:t> and </a:t>
            </a:r>
            <a:r>
              <a:rPr b="1" lang="en" sz="1500"/>
              <a:t>mitophagy-regulating genes</a:t>
            </a:r>
            <a:r>
              <a:rPr lang="en" sz="1500"/>
              <a:t> enhances </a:t>
            </a:r>
            <a:r>
              <a:rPr b="1" lang="en" sz="1500"/>
              <a:t>mitochondrial quality</a:t>
            </a:r>
            <a:r>
              <a:rPr lang="en" sz="1500"/>
              <a:t> control in the wild C. elegans strains </a:t>
            </a:r>
            <a:r>
              <a:rPr b="1" i="1" lang="en" sz="1500"/>
              <a:t>CX11314</a:t>
            </a:r>
            <a:r>
              <a:rPr lang="en" sz="1500"/>
              <a:t> and </a:t>
            </a:r>
            <a:r>
              <a:rPr b="1" i="1" lang="en" sz="1500"/>
              <a:t>EG4725</a:t>
            </a:r>
            <a:r>
              <a:rPr lang="en" sz="1500"/>
              <a:t>, leading to reduced mitochondrial dysfunction and lower levels of </a:t>
            </a:r>
            <a:r>
              <a:rPr b="1" lang="en" sz="1500"/>
              <a:t>heteroplasmy</a:t>
            </a:r>
            <a:r>
              <a:rPr lang="en" sz="1500"/>
              <a:t> compared to the </a:t>
            </a:r>
            <a:r>
              <a:rPr b="1" i="1" lang="en" sz="1500"/>
              <a:t>N2</a:t>
            </a:r>
            <a:r>
              <a:rPr lang="en" sz="1500"/>
              <a:t> reference strain.</a:t>
            </a:r>
            <a:endParaRPr sz="1500"/>
          </a:p>
        </p:txBody>
      </p:sp>
      <p:sp>
        <p:nvSpPr>
          <p:cNvPr id="381" name="Google Shape;381;p35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"/>
          <p:cNvSpPr txBox="1"/>
          <p:nvPr>
            <p:ph type="title"/>
          </p:nvPr>
        </p:nvSpPr>
        <p:spPr>
          <a:xfrm>
            <a:off x="704475" y="369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87" name="Google Shape;387;p36"/>
          <p:cNvSpPr/>
          <p:nvPr/>
        </p:nvSpPr>
        <p:spPr>
          <a:xfrm>
            <a:off x="4140401" y="1748406"/>
            <a:ext cx="832200" cy="615600"/>
          </a:xfrm>
          <a:prstGeom prst="rect">
            <a:avLst/>
          </a:prstGeom>
          <a:solidFill>
            <a:srgbClr val="CFE2F3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33"/>
              <a:t>Located </a:t>
            </a:r>
            <a:r>
              <a:rPr b="1" lang="en" sz="1033"/>
              <a:t>SNPs</a:t>
            </a:r>
            <a:endParaRPr b="1" sz="1033"/>
          </a:p>
        </p:txBody>
      </p:sp>
      <p:sp>
        <p:nvSpPr>
          <p:cNvPr id="388" name="Google Shape;388;p36"/>
          <p:cNvSpPr/>
          <p:nvPr/>
        </p:nvSpPr>
        <p:spPr>
          <a:xfrm>
            <a:off x="1703602" y="4012093"/>
            <a:ext cx="832200" cy="6156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EAD3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lang="en" sz="833">
                <a:solidFill>
                  <a:srgbClr val="000000"/>
                </a:solidFill>
              </a:rPr>
              <a:t>Constructed </a:t>
            </a:r>
            <a:r>
              <a:rPr b="1" lang="en" sz="833">
                <a:solidFill>
                  <a:srgbClr val="000000"/>
                </a:solidFill>
              </a:rPr>
              <a:t>Phylogenetic Tree</a:t>
            </a:r>
            <a:endParaRPr b="1" sz="833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33"/>
          </a:p>
        </p:txBody>
      </p:sp>
      <p:sp>
        <p:nvSpPr>
          <p:cNvPr id="389" name="Google Shape;389;p36"/>
          <p:cNvSpPr/>
          <p:nvPr/>
        </p:nvSpPr>
        <p:spPr>
          <a:xfrm>
            <a:off x="4140387" y="941552"/>
            <a:ext cx="832200" cy="615600"/>
          </a:xfrm>
          <a:prstGeom prst="flowChartAlternateProcess">
            <a:avLst/>
          </a:prstGeom>
          <a:solidFill>
            <a:srgbClr val="D0E0E3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33"/>
              <a:t>Navigated </a:t>
            </a:r>
            <a:r>
              <a:rPr b="1" lang="en" sz="833"/>
              <a:t>UCSC Genome Browser</a:t>
            </a:r>
            <a:endParaRPr b="1" sz="833"/>
          </a:p>
        </p:txBody>
      </p:sp>
      <p:sp>
        <p:nvSpPr>
          <p:cNvPr id="390" name="Google Shape;390;p36"/>
          <p:cNvSpPr/>
          <p:nvPr/>
        </p:nvSpPr>
        <p:spPr>
          <a:xfrm>
            <a:off x="1703825" y="943025"/>
            <a:ext cx="732000" cy="690300"/>
          </a:xfrm>
          <a:prstGeom prst="ellipse">
            <a:avLst/>
          </a:prstGeom>
          <a:solidFill>
            <a:srgbClr val="F4CCCC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33"/>
              <a:t>Found </a:t>
            </a:r>
            <a:r>
              <a:rPr b="1" lang="en" sz="733"/>
              <a:t>Research Papers</a:t>
            </a:r>
            <a:endParaRPr b="1" sz="733"/>
          </a:p>
        </p:txBody>
      </p:sp>
      <p:sp>
        <p:nvSpPr>
          <p:cNvPr id="391" name="Google Shape;391;p36"/>
          <p:cNvSpPr/>
          <p:nvPr/>
        </p:nvSpPr>
        <p:spPr>
          <a:xfrm>
            <a:off x="971440" y="2015854"/>
            <a:ext cx="832200" cy="615600"/>
          </a:xfrm>
          <a:prstGeom prst="diamond">
            <a:avLst/>
          </a:prstGeom>
          <a:solidFill>
            <a:srgbClr val="FCE5CD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33"/>
              <a:t>Chose </a:t>
            </a:r>
            <a:r>
              <a:rPr b="1" lang="en" sz="733"/>
              <a:t>Strains</a:t>
            </a:r>
            <a:endParaRPr b="1" sz="733"/>
          </a:p>
        </p:txBody>
      </p:sp>
      <p:sp>
        <p:nvSpPr>
          <p:cNvPr id="392" name="Google Shape;392;p36"/>
          <p:cNvSpPr/>
          <p:nvPr/>
        </p:nvSpPr>
        <p:spPr>
          <a:xfrm>
            <a:off x="2435767" y="2015857"/>
            <a:ext cx="832200" cy="615600"/>
          </a:xfrm>
          <a:prstGeom prst="diamond">
            <a:avLst/>
          </a:prstGeom>
          <a:solidFill>
            <a:srgbClr val="FCE5CD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33"/>
              <a:t>Chose </a:t>
            </a:r>
            <a:r>
              <a:rPr b="1" lang="en" sz="833"/>
              <a:t>Genes</a:t>
            </a:r>
            <a:r>
              <a:rPr lang="en" sz="833"/>
              <a:t> </a:t>
            </a:r>
            <a:endParaRPr sz="833"/>
          </a:p>
        </p:txBody>
      </p:sp>
      <p:sp>
        <p:nvSpPr>
          <p:cNvPr id="393" name="Google Shape;393;p36"/>
          <p:cNvSpPr/>
          <p:nvPr/>
        </p:nvSpPr>
        <p:spPr>
          <a:xfrm>
            <a:off x="1703602" y="3013969"/>
            <a:ext cx="832200" cy="615600"/>
          </a:xfrm>
          <a:prstGeom prst="rect">
            <a:avLst/>
          </a:prstGeom>
          <a:solidFill>
            <a:srgbClr val="FFF2CC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33"/>
              <a:t>Used </a:t>
            </a:r>
            <a:r>
              <a:rPr b="1" lang="en" sz="833"/>
              <a:t>Principal Component Analysis(PCA)</a:t>
            </a:r>
            <a:endParaRPr b="1" sz="833"/>
          </a:p>
        </p:txBody>
      </p:sp>
      <p:sp>
        <p:nvSpPr>
          <p:cNvPr id="394" name="Google Shape;394;p36"/>
          <p:cNvSpPr/>
          <p:nvPr/>
        </p:nvSpPr>
        <p:spPr>
          <a:xfrm>
            <a:off x="4042950" y="2480675"/>
            <a:ext cx="1027188" cy="690336"/>
          </a:xfrm>
          <a:prstGeom prst="cloud">
            <a:avLst/>
          </a:prstGeom>
          <a:solidFill>
            <a:srgbClr val="C9DAF8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775" lIns="72775" spcFirstLastPara="1" rIns="72775" wrap="square" tIns="72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33"/>
              <a:t>Used </a:t>
            </a:r>
            <a:r>
              <a:rPr b="1" lang="en" sz="733"/>
              <a:t>Variant Effect Predictor (VEP)</a:t>
            </a:r>
            <a:endParaRPr b="1" sz="733"/>
          </a:p>
        </p:txBody>
      </p:sp>
      <p:sp>
        <p:nvSpPr>
          <p:cNvPr id="395" name="Google Shape;395;p36"/>
          <p:cNvSpPr/>
          <p:nvPr/>
        </p:nvSpPr>
        <p:spPr>
          <a:xfrm>
            <a:off x="4140401" y="3362226"/>
            <a:ext cx="832200" cy="6156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D9D2E9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33">
                <a:solidFill>
                  <a:srgbClr val="000000"/>
                </a:solidFill>
              </a:rPr>
              <a:t>Run </a:t>
            </a:r>
            <a:r>
              <a:rPr b="1" lang="en" sz="933">
                <a:solidFill>
                  <a:srgbClr val="000000"/>
                </a:solidFill>
              </a:rPr>
              <a:t>dN/dS analysis</a:t>
            </a:r>
            <a:endParaRPr b="1" sz="933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33"/>
          </a:p>
        </p:txBody>
      </p:sp>
      <p:sp>
        <p:nvSpPr>
          <p:cNvPr id="396" name="Google Shape;396;p36"/>
          <p:cNvSpPr/>
          <p:nvPr/>
        </p:nvSpPr>
        <p:spPr>
          <a:xfrm>
            <a:off x="4140390" y="4169075"/>
            <a:ext cx="832200" cy="615600"/>
          </a:xfrm>
          <a:prstGeom prst="flowChartAlternateProcess">
            <a:avLst/>
          </a:prstGeom>
          <a:solidFill>
            <a:srgbClr val="EAD1DC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lang="en" sz="833"/>
              <a:t>Analyzed </a:t>
            </a:r>
            <a:r>
              <a:rPr b="1" lang="en" sz="833">
                <a:solidFill>
                  <a:srgbClr val="000000"/>
                </a:solidFill>
              </a:rPr>
              <a:t>RNA Sequencing Data</a:t>
            </a:r>
            <a:endParaRPr b="1" sz="833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33">
              <a:solidFill>
                <a:srgbClr val="000000"/>
              </a:solidFill>
            </a:endParaRPr>
          </a:p>
        </p:txBody>
      </p:sp>
      <p:sp>
        <p:nvSpPr>
          <p:cNvPr id="397" name="Google Shape;397;p36"/>
          <p:cNvSpPr/>
          <p:nvPr/>
        </p:nvSpPr>
        <p:spPr>
          <a:xfrm>
            <a:off x="5583582" y="3629574"/>
            <a:ext cx="832200" cy="615600"/>
          </a:xfrm>
          <a:prstGeom prst="rect">
            <a:avLst/>
          </a:prstGeom>
          <a:solidFill>
            <a:srgbClr val="F4CCCC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lang="en" sz="833">
                <a:solidFill>
                  <a:srgbClr val="000000"/>
                </a:solidFill>
              </a:rPr>
              <a:t>Observed how </a:t>
            </a:r>
            <a:r>
              <a:rPr b="1" lang="en" sz="833">
                <a:solidFill>
                  <a:srgbClr val="000000"/>
                </a:solidFill>
              </a:rPr>
              <a:t>our genes</a:t>
            </a:r>
            <a:r>
              <a:rPr lang="en" sz="833">
                <a:solidFill>
                  <a:srgbClr val="000000"/>
                </a:solidFill>
              </a:rPr>
              <a:t> interact</a:t>
            </a:r>
            <a:r>
              <a:rPr b="1" lang="en" sz="833">
                <a:solidFill>
                  <a:srgbClr val="000000"/>
                </a:solidFill>
              </a:rPr>
              <a:t> </a:t>
            </a:r>
            <a:r>
              <a:rPr lang="en" sz="833">
                <a:solidFill>
                  <a:srgbClr val="000000"/>
                </a:solidFill>
              </a:rPr>
              <a:t>with </a:t>
            </a:r>
            <a:r>
              <a:rPr b="1" lang="en" sz="833">
                <a:solidFill>
                  <a:srgbClr val="000000"/>
                </a:solidFill>
              </a:rPr>
              <a:t>other genes</a:t>
            </a:r>
            <a:endParaRPr sz="833"/>
          </a:p>
        </p:txBody>
      </p:sp>
      <p:sp>
        <p:nvSpPr>
          <p:cNvPr id="398" name="Google Shape;398;p36"/>
          <p:cNvSpPr/>
          <p:nvPr/>
        </p:nvSpPr>
        <p:spPr>
          <a:xfrm>
            <a:off x="5532201" y="1132788"/>
            <a:ext cx="832200" cy="615600"/>
          </a:xfrm>
          <a:prstGeom prst="flowChartAlternateProcess">
            <a:avLst/>
          </a:prstGeom>
          <a:solidFill>
            <a:srgbClr val="FFF2CC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lang="en" sz="833">
                <a:solidFill>
                  <a:srgbClr val="000000"/>
                </a:solidFill>
              </a:rPr>
              <a:t>Created </a:t>
            </a:r>
            <a:r>
              <a:rPr b="1" lang="en" sz="833">
                <a:solidFill>
                  <a:srgbClr val="000000"/>
                </a:solidFill>
              </a:rPr>
              <a:t>volcano </a:t>
            </a:r>
            <a:r>
              <a:rPr lang="en" sz="833">
                <a:solidFill>
                  <a:srgbClr val="000000"/>
                </a:solidFill>
              </a:rPr>
              <a:t>and </a:t>
            </a:r>
            <a:r>
              <a:rPr b="1" lang="en" sz="833">
                <a:solidFill>
                  <a:srgbClr val="000000"/>
                </a:solidFill>
              </a:rPr>
              <a:t>box plots</a:t>
            </a:r>
            <a:endParaRPr sz="833"/>
          </a:p>
        </p:txBody>
      </p:sp>
      <p:sp>
        <p:nvSpPr>
          <p:cNvPr id="399" name="Google Shape;399;p36"/>
          <p:cNvSpPr/>
          <p:nvPr/>
        </p:nvSpPr>
        <p:spPr>
          <a:xfrm>
            <a:off x="5532191" y="2444577"/>
            <a:ext cx="832200" cy="6156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CE5CD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lang="en" sz="833">
                <a:solidFill>
                  <a:srgbClr val="000000"/>
                </a:solidFill>
              </a:rPr>
              <a:t>Compared our </a:t>
            </a:r>
            <a:r>
              <a:rPr b="1" lang="en" sz="833">
                <a:solidFill>
                  <a:srgbClr val="000000"/>
                </a:solidFill>
              </a:rPr>
              <a:t>results</a:t>
            </a:r>
            <a:r>
              <a:rPr lang="en" sz="833">
                <a:solidFill>
                  <a:srgbClr val="000000"/>
                </a:solidFill>
              </a:rPr>
              <a:t> with</a:t>
            </a:r>
            <a:r>
              <a:rPr b="1" lang="en" sz="833">
                <a:solidFill>
                  <a:srgbClr val="000000"/>
                </a:solidFill>
              </a:rPr>
              <a:t> scientific literature</a:t>
            </a:r>
            <a:endParaRPr sz="833"/>
          </a:p>
        </p:txBody>
      </p:sp>
      <p:cxnSp>
        <p:nvCxnSpPr>
          <p:cNvPr id="400" name="Google Shape;400;p36"/>
          <p:cNvCxnSpPr>
            <a:stCxn id="390" idx="4"/>
            <a:endCxn id="392" idx="0"/>
          </p:cNvCxnSpPr>
          <p:nvPr/>
        </p:nvCxnSpPr>
        <p:spPr>
          <a:xfrm>
            <a:off x="2069825" y="1633325"/>
            <a:ext cx="782100" cy="3825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1" name="Google Shape;401;p36"/>
          <p:cNvCxnSpPr>
            <a:stCxn id="390" idx="4"/>
            <a:endCxn id="391" idx="0"/>
          </p:cNvCxnSpPr>
          <p:nvPr/>
        </p:nvCxnSpPr>
        <p:spPr>
          <a:xfrm flipH="1">
            <a:off x="1387625" y="1633325"/>
            <a:ext cx="682200" cy="3825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2" name="Google Shape;402;p36"/>
          <p:cNvCxnSpPr>
            <a:stCxn id="391" idx="2"/>
            <a:endCxn id="393" idx="0"/>
          </p:cNvCxnSpPr>
          <p:nvPr/>
        </p:nvCxnSpPr>
        <p:spPr>
          <a:xfrm>
            <a:off x="1387540" y="2631454"/>
            <a:ext cx="732300" cy="3825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3" name="Google Shape;403;p36"/>
          <p:cNvCxnSpPr>
            <a:stCxn id="392" idx="2"/>
            <a:endCxn id="393" idx="0"/>
          </p:cNvCxnSpPr>
          <p:nvPr/>
        </p:nvCxnSpPr>
        <p:spPr>
          <a:xfrm flipH="1">
            <a:off x="2119567" y="2631457"/>
            <a:ext cx="732300" cy="3825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4" name="Google Shape;404;p36"/>
          <p:cNvCxnSpPr>
            <a:stCxn id="393" idx="2"/>
            <a:endCxn id="388" idx="3"/>
          </p:cNvCxnSpPr>
          <p:nvPr/>
        </p:nvCxnSpPr>
        <p:spPr>
          <a:xfrm>
            <a:off x="2119702" y="3629569"/>
            <a:ext cx="0" cy="3825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5" name="Google Shape;405;p36"/>
          <p:cNvCxnSpPr>
            <a:stCxn id="389" idx="2"/>
            <a:endCxn id="387" idx="0"/>
          </p:cNvCxnSpPr>
          <p:nvPr/>
        </p:nvCxnSpPr>
        <p:spPr>
          <a:xfrm>
            <a:off x="4556487" y="1557152"/>
            <a:ext cx="0" cy="1914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6" name="Google Shape;406;p36"/>
          <p:cNvCxnSpPr>
            <a:stCxn id="387" idx="2"/>
            <a:endCxn id="394" idx="3"/>
          </p:cNvCxnSpPr>
          <p:nvPr/>
        </p:nvCxnSpPr>
        <p:spPr>
          <a:xfrm>
            <a:off x="4556501" y="2364006"/>
            <a:ext cx="0" cy="1560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7" name="Google Shape;407;p36"/>
          <p:cNvCxnSpPr>
            <a:stCxn id="394" idx="1"/>
            <a:endCxn id="395" idx="3"/>
          </p:cNvCxnSpPr>
          <p:nvPr/>
        </p:nvCxnSpPr>
        <p:spPr>
          <a:xfrm>
            <a:off x="4556544" y="3170276"/>
            <a:ext cx="0" cy="1920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8" name="Google Shape;408;p36"/>
          <p:cNvCxnSpPr>
            <a:stCxn id="395" idx="1"/>
            <a:endCxn id="396" idx="0"/>
          </p:cNvCxnSpPr>
          <p:nvPr/>
        </p:nvCxnSpPr>
        <p:spPr>
          <a:xfrm>
            <a:off x="4556501" y="3977826"/>
            <a:ext cx="0" cy="1911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09" name="Google Shape;409;p36"/>
          <p:cNvCxnSpPr>
            <a:stCxn id="396" idx="3"/>
            <a:endCxn id="397" idx="2"/>
          </p:cNvCxnSpPr>
          <p:nvPr/>
        </p:nvCxnSpPr>
        <p:spPr>
          <a:xfrm flipH="1" rot="10800000">
            <a:off x="4972590" y="4245275"/>
            <a:ext cx="1027200" cy="231600"/>
          </a:xfrm>
          <a:prstGeom prst="bentConnector2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0" name="Google Shape;410;p36"/>
          <p:cNvCxnSpPr>
            <a:endCxn id="389" idx="1"/>
          </p:cNvCxnSpPr>
          <p:nvPr/>
        </p:nvCxnSpPr>
        <p:spPr>
          <a:xfrm flipH="1" rot="10800000">
            <a:off x="3696987" y="1249352"/>
            <a:ext cx="443400" cy="9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1" name="Google Shape;411;p36"/>
          <p:cNvCxnSpPr/>
          <p:nvPr/>
        </p:nvCxnSpPr>
        <p:spPr>
          <a:xfrm rot="10800000">
            <a:off x="5962870" y="3060174"/>
            <a:ext cx="20100" cy="5922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2" name="Google Shape;412;p36"/>
          <p:cNvCxnSpPr>
            <a:stCxn id="399" idx="3"/>
            <a:endCxn id="398" idx="2"/>
          </p:cNvCxnSpPr>
          <p:nvPr/>
        </p:nvCxnSpPr>
        <p:spPr>
          <a:xfrm rot="10800000">
            <a:off x="5948291" y="1748277"/>
            <a:ext cx="0" cy="696300"/>
          </a:xfrm>
          <a:prstGeom prst="straightConnector1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3" name="Google Shape;413;p36"/>
          <p:cNvCxnSpPr>
            <a:stCxn id="388" idx="0"/>
            <a:endCxn id="389" idx="1"/>
          </p:cNvCxnSpPr>
          <p:nvPr/>
        </p:nvCxnSpPr>
        <p:spPr>
          <a:xfrm flipH="1" rot="10800000">
            <a:off x="2535802" y="1249393"/>
            <a:ext cx="1604700" cy="3070500"/>
          </a:xfrm>
          <a:prstGeom prst="bentConnector3">
            <a:avLst>
              <a:gd fmla="val 49996" name="adj1"/>
            </a:avLst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36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36"/>
          <p:cNvSpPr/>
          <p:nvPr/>
        </p:nvSpPr>
        <p:spPr>
          <a:xfrm>
            <a:off x="6993257" y="2958524"/>
            <a:ext cx="832200" cy="615600"/>
          </a:xfrm>
          <a:prstGeom prst="rect">
            <a:avLst/>
          </a:prstGeom>
          <a:solidFill>
            <a:srgbClr val="F4CCCC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33"/>
              <a:t>Develop </a:t>
            </a:r>
            <a:r>
              <a:rPr b="1" lang="en" sz="833"/>
              <a:t>ML model </a:t>
            </a:r>
            <a:r>
              <a:rPr lang="en" sz="833"/>
              <a:t>for </a:t>
            </a:r>
            <a:r>
              <a:rPr b="1" lang="en" sz="833"/>
              <a:t>gene expression</a:t>
            </a:r>
            <a:r>
              <a:rPr lang="en" sz="833"/>
              <a:t> prediction</a:t>
            </a:r>
            <a:endParaRPr sz="833"/>
          </a:p>
        </p:txBody>
      </p:sp>
      <p:sp>
        <p:nvSpPr>
          <p:cNvPr id="416" name="Google Shape;416;p36"/>
          <p:cNvSpPr/>
          <p:nvPr/>
        </p:nvSpPr>
        <p:spPr>
          <a:xfrm>
            <a:off x="6993229" y="1345052"/>
            <a:ext cx="832200" cy="6156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FCE5CD"/>
          </a:solidFill>
          <a:ln cap="flat" cmpd="sng" w="44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125" lIns="42125" spcFirstLastPara="1" rIns="42125" wrap="square" tIns="42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33"/>
              <a:t>Visualize </a:t>
            </a:r>
            <a:r>
              <a:rPr b="1" lang="en" sz="833"/>
              <a:t>gene expression</a:t>
            </a:r>
            <a:r>
              <a:rPr lang="en" sz="833"/>
              <a:t> across strains</a:t>
            </a:r>
            <a:endParaRPr sz="833"/>
          </a:p>
        </p:txBody>
      </p:sp>
      <p:cxnSp>
        <p:nvCxnSpPr>
          <p:cNvPr id="417" name="Google Shape;417;p36"/>
          <p:cNvCxnSpPr>
            <a:stCxn id="396" idx="3"/>
            <a:endCxn id="415" idx="2"/>
          </p:cNvCxnSpPr>
          <p:nvPr/>
        </p:nvCxnSpPr>
        <p:spPr>
          <a:xfrm flipH="1" rot="10800000">
            <a:off x="4972590" y="3574175"/>
            <a:ext cx="2436900" cy="902700"/>
          </a:xfrm>
          <a:prstGeom prst="bentConnector2">
            <a:avLst/>
          </a:prstGeom>
          <a:noFill/>
          <a:ln cap="flat" cmpd="sng" w="80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18" name="Google Shape;418;p36"/>
          <p:cNvCxnSpPr>
            <a:stCxn id="415" idx="0"/>
            <a:endCxn id="416" idx="1"/>
          </p:cNvCxnSpPr>
          <p:nvPr/>
        </p:nvCxnSpPr>
        <p:spPr>
          <a:xfrm rot="10800000">
            <a:off x="7409357" y="1960724"/>
            <a:ext cx="0" cy="997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7"/>
          <p:cNvSpPr txBox="1"/>
          <p:nvPr>
            <p:ph type="title"/>
          </p:nvPr>
        </p:nvSpPr>
        <p:spPr>
          <a:xfrm>
            <a:off x="720000" y="445025"/>
            <a:ext cx="380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Principal</a:t>
            </a:r>
            <a:r>
              <a:rPr lang="en"/>
              <a:t> Component Analysis(PCA)</a:t>
            </a:r>
            <a:endParaRPr/>
          </a:p>
        </p:txBody>
      </p:sp>
      <p:pic>
        <p:nvPicPr>
          <p:cNvPr id="424" name="Google Shape;424;p37"/>
          <p:cNvPicPr preferRelativeResize="0"/>
          <p:nvPr/>
        </p:nvPicPr>
        <p:blipFill rotWithShape="1">
          <a:blip r:embed="rId3">
            <a:alphaModFix/>
          </a:blip>
          <a:srcRect b="1690" l="0" r="0" t="0"/>
          <a:stretch/>
        </p:blipFill>
        <p:spPr>
          <a:xfrm>
            <a:off x="4385125" y="963150"/>
            <a:ext cx="4351075" cy="365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37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37"/>
          <p:cNvSpPr txBox="1"/>
          <p:nvPr/>
        </p:nvSpPr>
        <p:spPr>
          <a:xfrm>
            <a:off x="653100" y="1478650"/>
            <a:ext cx="37320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Char char="●"/>
            </a:pP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Used to simplify complex, high-dimensional data.</a:t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Char char="○"/>
            </a:pP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Easier visualization and interpretation</a:t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Char char="●"/>
            </a:pP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Illustrates the genetic clustering of strains</a:t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Char char="○"/>
            </a:pP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Distance between points is proportional to the genetic distance between strains.</a:t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PCA Analysis</a:t>
            </a:r>
            <a:endParaRPr/>
          </a:p>
        </p:txBody>
      </p:sp>
      <p:pic>
        <p:nvPicPr>
          <p:cNvPr id="432" name="Google Shape;43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1125" y="445025"/>
            <a:ext cx="5132875" cy="4259759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8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4" name="Google Shape;434;p38"/>
          <p:cNvSpPr txBox="1"/>
          <p:nvPr/>
        </p:nvSpPr>
        <p:spPr>
          <a:xfrm>
            <a:off x="471725" y="1260925"/>
            <a:ext cx="28194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Char char="●"/>
            </a:pP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Shows how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CX11314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EG4725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are genetically divergent from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N2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.</a:t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Char char="●"/>
            </a:pP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NIC266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is the genetically closest to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EG4725</a:t>
            </a:r>
            <a:endParaRPr i="1"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Char char="○"/>
            </a:pP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Biological sense to use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NIC266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as a proxy for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EG4725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.</a:t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"/>
          <p:cNvSpPr txBox="1"/>
          <p:nvPr>
            <p:ph type="title"/>
          </p:nvPr>
        </p:nvSpPr>
        <p:spPr>
          <a:xfrm>
            <a:off x="525975" y="436200"/>
            <a:ext cx="249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Phylogenetic Tree</a:t>
            </a:r>
            <a:endParaRPr/>
          </a:p>
        </p:txBody>
      </p:sp>
      <p:pic>
        <p:nvPicPr>
          <p:cNvPr id="440" name="Google Shape;44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9225" y="308675"/>
            <a:ext cx="5919575" cy="454732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9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2" name="Google Shape;442;p39"/>
          <p:cNvSpPr txBox="1"/>
          <p:nvPr/>
        </p:nvSpPr>
        <p:spPr>
          <a:xfrm>
            <a:off x="525975" y="1694275"/>
            <a:ext cx="23934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●"/>
            </a:pP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Like a family tree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●"/>
            </a:pP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Branch lengths = distance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●"/>
            </a:pP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Our strains far from N2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atio of non-synonymous to synonymous substitutions (dN/dS):</a:t>
            </a:r>
            <a:endParaRPr/>
          </a:p>
        </p:txBody>
      </p:sp>
      <p:sp>
        <p:nvSpPr>
          <p:cNvPr id="448" name="Google Shape;448;p40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449" name="Google Shape;449;p40"/>
          <p:cNvGraphicFramePr/>
          <p:nvPr/>
        </p:nvGraphicFramePr>
        <p:xfrm>
          <a:off x="2673313" y="151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{5071674D-6C5B-4BB3-AA03-F0F8AF424868}</a:tableStyleId>
              </a:tblPr>
              <a:tblGrid>
                <a:gridCol w="1866950"/>
                <a:gridCol w="1244650"/>
                <a:gridCol w="1244650"/>
                <a:gridCol w="1244650"/>
              </a:tblGrid>
              <a:tr h="44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Gene</a:t>
                      </a:r>
                      <a:endParaRPr b="1"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dN</a:t>
                      </a:r>
                      <a:endParaRPr b="1"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dS</a:t>
                      </a:r>
                      <a:endParaRPr b="1"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/>
                        <a:t>dN/dS</a:t>
                      </a:r>
                      <a:endParaRPr b="1" sz="1800"/>
                    </a:p>
                  </a:txBody>
                  <a:tcPr marT="63500" marB="63500" marR="63500" marL="63500"/>
                </a:tc>
              </a:tr>
              <a:tr h="44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atfs-1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34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41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0.829</a:t>
                      </a:r>
                      <a:endParaRPr sz="1800"/>
                    </a:p>
                  </a:txBody>
                  <a:tcPr marT="63500" marB="63500" marR="63500" marL="63500"/>
                </a:tc>
              </a:tr>
              <a:tr h="44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pink-1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63500" marB="63500" marR="63500" marL="63500"/>
                </a:tc>
              </a:tr>
              <a:tr h="44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drp-1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12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20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0.6</a:t>
                      </a:r>
                      <a:endParaRPr sz="1800"/>
                    </a:p>
                  </a:txBody>
                  <a:tcPr marT="63500" marB="63500" marR="63500" marL="63500"/>
                </a:tc>
              </a:tr>
              <a:tr h="44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pdr-1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15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19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0.789</a:t>
                      </a:r>
                      <a:endParaRPr sz="1800"/>
                    </a:p>
                  </a:txBody>
                  <a:tcPr marT="63500" marB="63500" marR="63500" marL="63500"/>
                </a:tc>
              </a:tr>
              <a:tr h="44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eat-3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63500" marB="63500" marR="63500" marL="63500"/>
                </a:tc>
              </a:tr>
              <a:tr h="4464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fzo-1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</a:t>
                      </a:r>
                      <a:endParaRPr sz="18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450" name="Google Shape;450;p40"/>
          <p:cNvSpPr txBox="1"/>
          <p:nvPr/>
        </p:nvSpPr>
        <p:spPr>
          <a:xfrm>
            <a:off x="392800" y="1612450"/>
            <a:ext cx="1922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Genes can: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Char char="●"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Be preserved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Char char="●"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Change randomly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anken Grotesk"/>
              <a:buChar char="●"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Adapt to environmental changes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Variant</a:t>
            </a:r>
            <a:r>
              <a:rPr lang="en"/>
              <a:t> Effect Prediction (VEP)</a:t>
            </a:r>
            <a:endParaRPr/>
          </a:p>
        </p:txBody>
      </p:sp>
      <p:sp>
        <p:nvSpPr>
          <p:cNvPr id="456" name="Google Shape;456;p41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7" name="Google Shape;4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825" y="1093925"/>
            <a:ext cx="4826250" cy="354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1"/>
          <p:cNvSpPr txBox="1"/>
          <p:nvPr/>
        </p:nvSpPr>
        <p:spPr>
          <a:xfrm>
            <a:off x="399025" y="1246325"/>
            <a:ext cx="3429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Figtree"/>
              <a:buChar char="●"/>
            </a:pPr>
            <a:r>
              <a:rPr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Near 1:1 ratio</a:t>
            </a:r>
            <a:endParaRPr sz="13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Figtree"/>
              <a:buChar char="○"/>
            </a:pPr>
            <a:r>
              <a:rPr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Moderate evolutionary pressure.</a:t>
            </a:r>
            <a:endParaRPr sz="13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Figtree"/>
              <a:buChar char="●"/>
            </a:pPr>
            <a:r>
              <a:rPr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Highest Synonymous variants: </a:t>
            </a:r>
            <a:r>
              <a:rPr i="1"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drp-1</a:t>
            </a:r>
            <a:endParaRPr i="1" sz="13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Figtree"/>
              <a:buChar char="○"/>
            </a:pPr>
            <a:r>
              <a:rPr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Crucial in mitochondrial fission</a:t>
            </a:r>
            <a:endParaRPr sz="13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Figtree"/>
              <a:buChar char="●"/>
            </a:pPr>
            <a:r>
              <a:rPr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Highest Missense variants: </a:t>
            </a:r>
            <a:r>
              <a:rPr i="1"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eat-3</a:t>
            </a:r>
            <a:r>
              <a:rPr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, </a:t>
            </a:r>
            <a:r>
              <a:rPr i="1"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atfs-1</a:t>
            </a:r>
            <a:endParaRPr i="1" sz="13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Figtree"/>
              <a:buChar char="○"/>
            </a:pPr>
            <a:r>
              <a:rPr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Adaptive evolution under stress</a:t>
            </a:r>
            <a:endParaRPr sz="13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Figtree"/>
              <a:buChar char="●"/>
            </a:pPr>
            <a:r>
              <a:rPr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Stop gained Variation in </a:t>
            </a:r>
            <a:r>
              <a:rPr i="1"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pdr-1</a:t>
            </a:r>
            <a:endParaRPr i="1" sz="13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43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Figtree"/>
              <a:buChar char="○"/>
            </a:pPr>
            <a:r>
              <a:rPr lang="en" sz="135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Truncated proteins and altered functions.</a:t>
            </a:r>
            <a:endParaRPr sz="135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Protein Differences</a:t>
            </a:r>
            <a:endParaRPr/>
          </a:p>
        </p:txBody>
      </p:sp>
      <p:sp>
        <p:nvSpPr>
          <p:cNvPr id="464" name="Google Shape;464;p42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5" name="Google Shape;46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0400" y="1268175"/>
            <a:ext cx="5670175" cy="2993057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2"/>
          <p:cNvSpPr txBox="1"/>
          <p:nvPr/>
        </p:nvSpPr>
        <p:spPr>
          <a:xfrm>
            <a:off x="462700" y="1268175"/>
            <a:ext cx="28239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</a:pPr>
            <a:r>
              <a:rPr i="1" lang="en"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fzo-1</a:t>
            </a:r>
            <a:r>
              <a:rPr lang="en"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and </a:t>
            </a:r>
            <a:r>
              <a:rPr i="1" lang="en"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eat-3</a:t>
            </a:r>
            <a:r>
              <a:rPr lang="en"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had moderate variations.</a:t>
            </a:r>
            <a:endParaRPr sz="15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</a:pPr>
            <a:r>
              <a:rPr i="1" lang="en"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drp-1</a:t>
            </a:r>
            <a:r>
              <a:rPr lang="en"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had conservative changes</a:t>
            </a:r>
            <a:endParaRPr sz="15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</a:pPr>
            <a:r>
              <a:rPr i="1" lang="en"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pdr-1</a:t>
            </a:r>
            <a:r>
              <a:rPr lang="en"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had diverse changes</a:t>
            </a:r>
            <a:endParaRPr sz="15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●"/>
            </a:pPr>
            <a:r>
              <a:rPr i="1" lang="en"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atfs-1</a:t>
            </a:r>
            <a:r>
              <a:rPr lang="en"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had the most variants</a:t>
            </a:r>
            <a:endParaRPr sz="15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Figtree"/>
              <a:buChar char="○"/>
            </a:pPr>
            <a:r>
              <a:rPr lang="en" sz="15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Could suggest rapid evolution</a:t>
            </a:r>
            <a:endParaRPr sz="15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Volcano Plot</a:t>
            </a:r>
            <a:endParaRPr/>
          </a:p>
        </p:txBody>
      </p:sp>
      <p:pic>
        <p:nvPicPr>
          <p:cNvPr id="472" name="Google Shape;4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275" y="1186350"/>
            <a:ext cx="4053725" cy="323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3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4" name="Google Shape;474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5050" y="1186350"/>
            <a:ext cx="3982787" cy="31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Volcano Plot</a:t>
            </a:r>
            <a:endParaRPr/>
          </a:p>
        </p:txBody>
      </p:sp>
      <p:pic>
        <p:nvPicPr>
          <p:cNvPr id="480" name="Google Shape;48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875" y="1148625"/>
            <a:ext cx="3986475" cy="318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4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2" name="Google Shape;48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11853"/>
            <a:ext cx="4135350" cy="32922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Expression of Genes</a:t>
            </a:r>
            <a:endParaRPr/>
          </a:p>
        </p:txBody>
      </p:sp>
      <p:sp>
        <p:nvSpPr>
          <p:cNvPr id="488" name="Google Shape;488;p45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9" name="Google Shape;4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8897" y="1105610"/>
            <a:ext cx="5177100" cy="308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5"/>
          <p:cNvSpPr txBox="1"/>
          <p:nvPr/>
        </p:nvSpPr>
        <p:spPr>
          <a:xfrm>
            <a:off x="408225" y="1279075"/>
            <a:ext cx="30606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●"/>
            </a:pP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</a:t>
            </a: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at-3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had the highest expression overall.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●"/>
            </a:pP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</a:t>
            </a: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dr-1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had the highest variability in </a:t>
            </a: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CX11314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.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●"/>
            </a:pP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However, there was no statistically significance in expression levels.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○"/>
            </a:pP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Suggests that these genes are for fine-tuning mechanisms.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6"/>
          <p:cNvSpPr/>
          <p:nvPr/>
        </p:nvSpPr>
        <p:spPr>
          <a:xfrm>
            <a:off x="5202950" y="1235900"/>
            <a:ext cx="3235200" cy="3171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Hanken Grotesk"/>
                <a:ea typeface="Hanken Grotesk"/>
                <a:cs typeface="Hanken Grotesk"/>
                <a:sym typeface="Hanken Grotesk"/>
              </a:rPr>
              <a:t>Implementing Model</a:t>
            </a:r>
            <a:endParaRPr b="1" sz="16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anken Grotesk"/>
                <a:ea typeface="Hanken Grotesk"/>
                <a:cs typeface="Hanken Grotesk"/>
                <a:sym typeface="Hanken Grotesk"/>
              </a:rPr>
              <a:t>1. Trained the ML model on 204 strains</a:t>
            </a:r>
            <a:endParaRPr b="1"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anken Grotesk"/>
                <a:ea typeface="Hanken Grotesk"/>
                <a:cs typeface="Hanken Grotesk"/>
                <a:sym typeface="Hanken Grotesk"/>
              </a:rPr>
              <a:t>2. Neural Network Classifier:</a:t>
            </a:r>
            <a:b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- Input: expression/SNP data</a:t>
            </a:r>
            <a:b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- Output: predicted strain label</a:t>
            </a:r>
            <a:b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- Used Leave One Out Cross Validation(LOOCV) to test generalization.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1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latin typeface="Hanken Grotesk"/>
                <a:ea typeface="Hanken Grotesk"/>
                <a:cs typeface="Hanken Grotesk"/>
                <a:sym typeface="Hanken Grotesk"/>
              </a:rPr>
              <a:t>3. Spearman Correlation:</a:t>
            </a:r>
            <a:b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 - To test how well gene expression tracks with strain identity</a:t>
            </a:r>
            <a:b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</a:br>
            <a:r>
              <a:rPr lang="en" sz="1100">
                <a:latin typeface="Hanken Grotesk"/>
                <a:ea typeface="Hanken Grotesk"/>
                <a:cs typeface="Hanken Grotesk"/>
                <a:sym typeface="Hanken Grotesk"/>
              </a:rPr>
              <a:t> - R² = 0.959; very strong correlation.</a:t>
            </a:r>
            <a:endParaRPr sz="16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6" name="Google Shape;496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Prediction of </a:t>
            </a:r>
            <a:r>
              <a:rPr i="1" lang="en"/>
              <a:t>EG4725</a:t>
            </a:r>
            <a:r>
              <a:rPr lang="en"/>
              <a:t> expression via ML</a:t>
            </a:r>
            <a:endParaRPr/>
          </a:p>
        </p:txBody>
      </p:sp>
      <p:sp>
        <p:nvSpPr>
          <p:cNvPr id="497" name="Google Shape;497;p46"/>
          <p:cNvSpPr/>
          <p:nvPr/>
        </p:nvSpPr>
        <p:spPr>
          <a:xfrm>
            <a:off x="558475" y="1235900"/>
            <a:ext cx="3471300" cy="3171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Hanken Grotesk"/>
                <a:ea typeface="Hanken Grotesk"/>
                <a:cs typeface="Hanken Grotesk"/>
                <a:sym typeface="Hanken Grotesk"/>
              </a:rPr>
              <a:t>Data Preparation:</a:t>
            </a:r>
            <a:endParaRPr b="1" sz="15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Hanken Grotesk"/>
              <a:buAutoNum type="arabicPeriod"/>
            </a:pPr>
            <a:r>
              <a:rPr lang="en" sz="1300">
                <a:latin typeface="Hanken Grotesk"/>
                <a:ea typeface="Hanken Grotesk"/>
                <a:cs typeface="Hanken Grotesk"/>
                <a:sym typeface="Hanken Grotesk"/>
              </a:rPr>
              <a:t>Filtered VCF and TPM dataset to remove null values.</a:t>
            </a:r>
            <a:endParaRPr sz="13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Hanken Grotesk"/>
              <a:buAutoNum type="arabicPeriod"/>
            </a:pPr>
            <a:r>
              <a:rPr lang="en" sz="1300">
                <a:latin typeface="Hanken Grotesk"/>
                <a:ea typeface="Hanken Grotesk"/>
                <a:cs typeface="Hanken Grotesk"/>
                <a:sym typeface="Hanken Grotesk"/>
              </a:rPr>
              <a:t>Log2-transformed and z-score normalized expression data.</a:t>
            </a:r>
            <a:br>
              <a:rPr lang="en" sz="1300">
                <a:latin typeface="Hanken Grotesk"/>
                <a:ea typeface="Hanken Grotesk"/>
                <a:cs typeface="Hanken Grotesk"/>
                <a:sym typeface="Hanken Grotesk"/>
              </a:rPr>
            </a:br>
            <a:endParaRPr sz="13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Hanken Grotesk"/>
              <a:buAutoNum type="arabicPeriod"/>
            </a:pPr>
            <a:r>
              <a:rPr lang="en" sz="1300">
                <a:latin typeface="Hanken Grotesk"/>
                <a:ea typeface="Hanken Grotesk"/>
                <a:cs typeface="Hanken Grotesk"/>
                <a:sym typeface="Hanken Grotesk"/>
              </a:rPr>
              <a:t>Filtered to only include genes of interest </a:t>
            </a:r>
            <a:endParaRPr sz="13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498" name="Google Shape;498;p46"/>
          <p:cNvCxnSpPr>
            <a:stCxn id="497" idx="3"/>
            <a:endCxn id="495" idx="1"/>
          </p:cNvCxnSpPr>
          <p:nvPr/>
        </p:nvCxnSpPr>
        <p:spPr>
          <a:xfrm>
            <a:off x="4029775" y="2821700"/>
            <a:ext cx="11733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9" name="Google Shape;499;p46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of Predicted Expression</a:t>
            </a:r>
            <a:endParaRPr/>
          </a:p>
        </p:txBody>
      </p:sp>
      <p:pic>
        <p:nvPicPr>
          <p:cNvPr id="505" name="Google Shape;505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718" y="1773625"/>
            <a:ext cx="5544832" cy="2054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47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7" name="Google Shape;507;p47"/>
          <p:cNvSpPr txBox="1"/>
          <p:nvPr/>
        </p:nvSpPr>
        <p:spPr>
          <a:xfrm>
            <a:off x="390075" y="1297225"/>
            <a:ext cx="27867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Char char="●"/>
            </a:pP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The predicted expression for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EG4725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follows the trend with the expression of N2,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CX11314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EG4725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.</a:t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Char char="●"/>
            </a:pP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Interestingly,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EG4725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had higher expression for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pdr-1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</a:t>
            </a:r>
            <a:r>
              <a:rPr i="1"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atfs-1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.</a:t>
            </a:r>
            <a:endParaRPr sz="16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13" name="Google Shape;513;p48"/>
          <p:cNvSpPr txBox="1"/>
          <p:nvPr>
            <p:ph idx="1" type="body"/>
          </p:nvPr>
        </p:nvSpPr>
        <p:spPr>
          <a:xfrm>
            <a:off x="720000" y="1344775"/>
            <a:ext cx="7704000" cy="32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Our hypothesis was correct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Natural variation in our strains enhanced mitochondrial function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i="1" lang="en" sz="1600"/>
              <a:t>CX11314</a:t>
            </a:r>
            <a:r>
              <a:rPr lang="en" sz="1600"/>
              <a:t> and </a:t>
            </a:r>
            <a:r>
              <a:rPr i="1" lang="en" sz="1600"/>
              <a:t>EG4725</a:t>
            </a:r>
            <a:r>
              <a:rPr lang="en" sz="1600"/>
              <a:t> </a:t>
            </a:r>
            <a:r>
              <a:rPr lang="en" sz="1600"/>
              <a:t>adapted over time for enhanced mitochondrial control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PCA plot and phylogenetic tree support this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RNA Seq also supports this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Small changes over time lead to noticeable differences</a:t>
            </a:r>
            <a:endParaRPr sz="1600"/>
          </a:p>
        </p:txBody>
      </p:sp>
      <p:sp>
        <p:nvSpPr>
          <p:cNvPr id="514" name="Google Shape;514;p48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Proposal</a:t>
            </a:r>
            <a:endParaRPr/>
          </a:p>
        </p:txBody>
      </p:sp>
      <p:sp>
        <p:nvSpPr>
          <p:cNvPr id="520" name="Google Shape;520;p49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1" name="Google Shape;521;p49"/>
          <p:cNvPicPr preferRelativeResize="0"/>
          <p:nvPr/>
        </p:nvPicPr>
        <p:blipFill rotWithShape="1">
          <a:blip r:embed="rId3">
            <a:alphaModFix/>
          </a:blip>
          <a:srcRect b="0" l="3278" r="0" t="0"/>
          <a:stretch/>
        </p:blipFill>
        <p:spPr>
          <a:xfrm>
            <a:off x="4003700" y="271413"/>
            <a:ext cx="3213225" cy="4600675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49"/>
          <p:cNvSpPr txBox="1"/>
          <p:nvPr/>
        </p:nvSpPr>
        <p:spPr>
          <a:xfrm>
            <a:off x="485875" y="1331950"/>
            <a:ext cx="35178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●"/>
            </a:pP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Replace </a:t>
            </a: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N2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gene 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allele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with those form </a:t>
            </a: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CX11314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</a:t>
            </a: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EG4725</a:t>
            </a:r>
            <a:endParaRPr i="1"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●"/>
            </a:pP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Swap promoters and coding sequences of pdr-1 and atfs-1 from </a:t>
            </a: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CX11314/EG4725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into </a:t>
            </a: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N2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.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●"/>
            </a:pP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Experimental comparisons: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○"/>
            </a:pP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N2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(control)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○"/>
            </a:pP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N2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with pdr-1 EG allele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○"/>
            </a:pP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N2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with atfs-1 EG allele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Hanken Grotesk"/>
              <a:buChar char="○"/>
            </a:pPr>
            <a:r>
              <a:rPr i="1"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EG4725</a:t>
            </a:r>
            <a:r>
              <a:rPr lang="en" sz="15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(baseline)</a:t>
            </a:r>
            <a:endParaRPr sz="15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0"/>
          <p:cNvSpPr txBox="1"/>
          <p:nvPr/>
        </p:nvSpPr>
        <p:spPr>
          <a:xfrm>
            <a:off x="1424416" y="4034825"/>
            <a:ext cx="619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Thank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you to Dr. Lina Kim, Dr. Teresa Holden, and the Summer Research Academy Program for this 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opportunity</a:t>
            </a: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!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28" name="Google Shape;528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Acknowledgments</a:t>
            </a:r>
            <a:endParaRPr/>
          </a:p>
        </p:txBody>
      </p:sp>
      <p:sp>
        <p:nvSpPr>
          <p:cNvPr id="529" name="Google Shape;529;p50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0" name="Google Shape;530;p50"/>
          <p:cNvSpPr txBox="1"/>
          <p:nvPr>
            <p:ph idx="1" type="body"/>
          </p:nvPr>
        </p:nvSpPr>
        <p:spPr>
          <a:xfrm>
            <a:off x="339050" y="0"/>
            <a:ext cx="7704000" cy="3233100"/>
          </a:xfrm>
          <a:prstGeom prst="rect">
            <a:avLst/>
          </a:prstGeom>
        </p:spPr>
        <p:txBody>
          <a:bodyPr anchorCtr="0" anchor="ctr" bIns="91425" lIns="91425" spcFirstLastPara="1" rIns="679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Thank you Sam, Ryan, and Max for their mentorship </a:t>
            </a:r>
            <a:endParaRPr sz="1600"/>
          </a:p>
        </p:txBody>
      </p:sp>
      <p:pic>
        <p:nvPicPr>
          <p:cNvPr id="531" name="Google Shape;53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6550" y="2004450"/>
            <a:ext cx="1369050" cy="1288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7071" y="2004457"/>
            <a:ext cx="1369050" cy="1288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1775" y="1979263"/>
            <a:ext cx="1369050" cy="1338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0"/>
          <p:cNvSpPr txBox="1"/>
          <p:nvPr/>
        </p:nvSpPr>
        <p:spPr>
          <a:xfrm>
            <a:off x="1391575" y="3368675"/>
            <a:ext cx="1368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Professor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Sam Fiallo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35" name="Google Shape;535;p50"/>
          <p:cNvSpPr txBox="1"/>
          <p:nvPr/>
        </p:nvSpPr>
        <p:spPr>
          <a:xfrm>
            <a:off x="3264125" y="3356088"/>
            <a:ext cx="179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Teaching Assistant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Ryan Son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36" name="Google Shape;536;p50"/>
          <p:cNvSpPr txBox="1"/>
          <p:nvPr/>
        </p:nvSpPr>
        <p:spPr>
          <a:xfrm>
            <a:off x="5631338" y="3356100"/>
            <a:ext cx="1796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Teaching Assistant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Max Frank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37" name="Google Shape;537;p50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1"/>
          <p:cNvSpPr txBox="1"/>
          <p:nvPr>
            <p:ph type="title"/>
          </p:nvPr>
        </p:nvSpPr>
        <p:spPr>
          <a:xfrm>
            <a:off x="1644450" y="2114400"/>
            <a:ext cx="5855100" cy="76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100"/>
              <a:t>Questions?</a:t>
            </a:r>
            <a:endParaRPr sz="7100"/>
          </a:p>
        </p:txBody>
      </p:sp>
      <p:sp>
        <p:nvSpPr>
          <p:cNvPr id="543" name="Google Shape;543;p51"/>
          <p:cNvSpPr txBox="1"/>
          <p:nvPr>
            <p:ph idx="12" type="sldNum"/>
          </p:nvPr>
        </p:nvSpPr>
        <p:spPr>
          <a:xfrm>
            <a:off x="8331884" y="45778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