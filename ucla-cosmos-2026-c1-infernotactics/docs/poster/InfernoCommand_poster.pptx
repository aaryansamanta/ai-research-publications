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32918400" cx="32918400"/>
  <p:notesSz cx="6858000" cy="9144000"/>
  <p:embeddedFontLst>
    <p:embeddedFont>
      <p:font typeface="Barlow ExtraBold"/>
      <p:bold r:id="rId8"/>
      <p:boldItalic r:id="rId9"/>
    </p:embeddedFont>
    <p:embeddedFont>
      <p:font typeface="Barlow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97C8F6-CE9A-4EC6-8B7F-92B3B0DA9CFE}">
  <a:tblStyle styleId="{7797C8F6-CE9A-4EC6-8B7F-92B3B0DA9C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bold.fntdata"/><Relationship Id="rId10" Type="http://schemas.openxmlformats.org/officeDocument/2006/relationships/font" Target="fonts/Barlow-regular.fntdata"/><Relationship Id="rId13" Type="http://schemas.openxmlformats.org/officeDocument/2006/relationships/font" Target="fonts/Barlow-boldItalic.fntdata"/><Relationship Id="rId12" Type="http://schemas.openxmlformats.org/officeDocument/2006/relationships/font" Target="fonts/Barlow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Barlow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Barlow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4765280"/>
            <a:ext cx="30674100" cy="13136700"/>
          </a:xfrm>
          <a:prstGeom prst="rect">
            <a:avLst/>
          </a:prstGeom>
        </p:spPr>
        <p:txBody>
          <a:bodyPr anchorCtr="0" anchor="b" bIns="414450" lIns="414450" spcFirstLastPara="1" rIns="414450" wrap="square" tIns="414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1pPr>
            <a:lvl2pPr lvl="1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2pPr>
            <a:lvl3pPr lvl="2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3pPr>
            <a:lvl4pPr lvl="3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4pPr>
            <a:lvl5pPr lvl="4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5pPr>
            <a:lvl6pPr lvl="5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6pPr>
            <a:lvl7pPr lvl="6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7pPr>
            <a:lvl8pPr lvl="7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8pPr>
            <a:lvl9pPr lvl="8" algn="ctr">
              <a:spcBef>
                <a:spcPts val="0"/>
              </a:spcBef>
              <a:spcAft>
                <a:spcPts val="0"/>
              </a:spcAft>
              <a:buSzPts val="23573"/>
              <a:buNone/>
              <a:defRPr sz="2357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8138400"/>
            <a:ext cx="30674100" cy="50727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13765440"/>
            <a:ext cx="30674100" cy="53874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1pPr>
            <a:lvl2pPr lvl="1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2pPr>
            <a:lvl3pPr lvl="2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3pPr>
            <a:lvl4pPr lvl="3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4pPr>
            <a:lvl5pPr lvl="4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5pPr>
            <a:lvl6pPr lvl="5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6pPr>
            <a:lvl7pPr lvl="6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7pPr>
            <a:lvl8pPr lvl="7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8pPr>
            <a:lvl9pPr lvl="8" algn="ctr">
              <a:spcBef>
                <a:spcPts val="0"/>
              </a:spcBef>
              <a:spcAft>
                <a:spcPts val="0"/>
              </a:spcAft>
              <a:buSzPts val="16320"/>
              <a:buNone/>
              <a:defRPr sz="1632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2848160"/>
            <a:ext cx="30674100" cy="36654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1pPr>
            <a:lvl2pPr lvl="1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2pPr>
            <a:lvl3pPr lvl="2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3pPr>
            <a:lvl4pPr lvl="3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4pPr>
            <a:lvl5pPr lvl="4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5pPr>
            <a:lvl6pPr lvl="5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6pPr>
            <a:lvl7pPr lvl="6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7pPr>
            <a:lvl8pPr lvl="7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8pPr>
            <a:lvl9pPr lvl="8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7375840"/>
            <a:ext cx="30674100" cy="218649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746760" lvl="0" marL="457200">
              <a:spcBef>
                <a:spcPts val="0"/>
              </a:spcBef>
              <a:spcAft>
                <a:spcPts val="0"/>
              </a:spcAft>
              <a:buSzPts val="8160"/>
              <a:buChar char="●"/>
              <a:defRPr sz="8160"/>
            </a:lvl1pPr>
            <a:lvl2pPr indent="-631614" lvl="1" marL="9144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2pPr>
            <a:lvl3pPr indent="-631614" lvl="2" marL="13716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3pPr>
            <a:lvl4pPr indent="-631614" lvl="3" marL="18288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4pPr>
            <a:lvl5pPr indent="-631614" lvl="4" marL="22860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5pPr>
            <a:lvl6pPr indent="-631614" lvl="5" marL="27432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6pPr>
            <a:lvl7pPr indent="-631614" lvl="6" marL="32004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7pPr>
            <a:lvl8pPr indent="-631614" lvl="7" marL="36576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8pPr>
            <a:lvl9pPr indent="-631613" lvl="8" marL="41148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2848160"/>
            <a:ext cx="30674100" cy="36654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1pPr>
            <a:lvl2pPr lvl="1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2pPr>
            <a:lvl3pPr lvl="2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3pPr>
            <a:lvl4pPr lvl="3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4pPr>
            <a:lvl5pPr lvl="4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5pPr>
            <a:lvl6pPr lvl="5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6pPr>
            <a:lvl7pPr lvl="6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7pPr>
            <a:lvl8pPr lvl="7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8pPr>
            <a:lvl9pPr lvl="8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7375840"/>
            <a:ext cx="14399700" cy="218649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631614" lvl="0" marL="4572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1pPr>
            <a:lvl2pPr indent="-574040" lvl="1" marL="9144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2pPr>
            <a:lvl3pPr indent="-574040" lvl="2" marL="13716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3pPr>
            <a:lvl4pPr indent="-574040" lvl="3" marL="18288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4pPr>
            <a:lvl5pPr indent="-574040" lvl="4" marL="22860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5pPr>
            <a:lvl6pPr indent="-574040" lvl="5" marL="27432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6pPr>
            <a:lvl7pPr indent="-574040" lvl="6" marL="32004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7pPr>
            <a:lvl8pPr indent="-574040" lvl="7" marL="36576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8pPr>
            <a:lvl9pPr indent="-574040" lvl="8" marL="41148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7375840"/>
            <a:ext cx="14399700" cy="218649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631614" lvl="0" marL="4572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1pPr>
            <a:lvl2pPr indent="-574040" lvl="1" marL="9144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2pPr>
            <a:lvl3pPr indent="-574040" lvl="2" marL="13716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3pPr>
            <a:lvl4pPr indent="-574040" lvl="3" marL="18288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4pPr>
            <a:lvl5pPr indent="-574040" lvl="4" marL="22860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5pPr>
            <a:lvl6pPr indent="-574040" lvl="5" marL="27432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6pPr>
            <a:lvl7pPr indent="-574040" lvl="6" marL="32004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7pPr>
            <a:lvl8pPr indent="-574040" lvl="7" marL="36576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8pPr>
            <a:lvl9pPr indent="-574040" lvl="8" marL="41148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2848160"/>
            <a:ext cx="30674100" cy="36654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1pPr>
            <a:lvl2pPr lvl="1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2pPr>
            <a:lvl3pPr lvl="2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3pPr>
            <a:lvl4pPr lvl="3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4pPr>
            <a:lvl5pPr lvl="4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5pPr>
            <a:lvl6pPr lvl="5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6pPr>
            <a:lvl7pPr lvl="6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7pPr>
            <a:lvl8pPr lvl="7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8pPr>
            <a:lvl9pPr lvl="8">
              <a:spcBef>
                <a:spcPts val="0"/>
              </a:spcBef>
              <a:spcAft>
                <a:spcPts val="0"/>
              </a:spcAft>
              <a:buSzPts val="12693"/>
              <a:buNone/>
              <a:defRPr sz="12693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3555840"/>
            <a:ext cx="10108800" cy="4836600"/>
          </a:xfrm>
          <a:prstGeom prst="rect">
            <a:avLst/>
          </a:prstGeom>
        </p:spPr>
        <p:txBody>
          <a:bodyPr anchorCtr="0" anchor="b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1pPr>
            <a:lvl2pPr lvl="1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2pPr>
            <a:lvl3pPr lvl="2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3pPr>
            <a:lvl4pPr lvl="3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4pPr>
            <a:lvl5pPr lvl="4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5pPr>
            <a:lvl6pPr lvl="5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6pPr>
            <a:lvl7pPr lvl="6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7pPr>
            <a:lvl8pPr lvl="7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8pPr>
            <a:lvl9pPr lvl="8">
              <a:spcBef>
                <a:spcPts val="0"/>
              </a:spcBef>
              <a:spcAft>
                <a:spcPts val="0"/>
              </a:spcAft>
              <a:buSzPts val="10880"/>
              <a:buNone/>
              <a:defRPr sz="1088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8893440"/>
            <a:ext cx="10108800" cy="203481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574040" lvl="0" marL="4572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1pPr>
            <a:lvl2pPr indent="-574040" lvl="1" marL="9144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2pPr>
            <a:lvl3pPr indent="-574040" lvl="2" marL="13716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3pPr>
            <a:lvl4pPr indent="-574040" lvl="3" marL="18288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4pPr>
            <a:lvl5pPr indent="-574040" lvl="4" marL="22860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5pPr>
            <a:lvl6pPr indent="-574040" lvl="5" marL="27432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6pPr>
            <a:lvl7pPr indent="-574040" lvl="6" marL="3200400">
              <a:spcBef>
                <a:spcPts val="0"/>
              </a:spcBef>
              <a:spcAft>
                <a:spcPts val="0"/>
              </a:spcAft>
              <a:buSzPts val="5440"/>
              <a:buChar char="●"/>
              <a:defRPr sz="5440"/>
            </a:lvl7pPr>
            <a:lvl8pPr indent="-574040" lvl="7" marL="3657600">
              <a:spcBef>
                <a:spcPts val="0"/>
              </a:spcBef>
              <a:spcAft>
                <a:spcPts val="0"/>
              </a:spcAft>
              <a:buSzPts val="5440"/>
              <a:buChar char="○"/>
              <a:defRPr sz="5440"/>
            </a:lvl8pPr>
            <a:lvl9pPr indent="-574040" lvl="8" marL="4114800">
              <a:spcBef>
                <a:spcPts val="0"/>
              </a:spcBef>
              <a:spcAft>
                <a:spcPts val="0"/>
              </a:spcAft>
              <a:buSzPts val="5440"/>
              <a:buChar char="■"/>
              <a:defRPr sz="544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2880960"/>
            <a:ext cx="22924200" cy="261810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1pPr>
            <a:lvl2pPr lvl="1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2pPr>
            <a:lvl3pPr lvl="2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3pPr>
            <a:lvl4pPr lvl="3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4pPr>
            <a:lvl5pPr lvl="4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5pPr>
            <a:lvl6pPr lvl="5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6pPr>
            <a:lvl7pPr lvl="6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7pPr>
            <a:lvl8pPr lvl="7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8pPr>
            <a:lvl9pPr lvl="8">
              <a:spcBef>
                <a:spcPts val="0"/>
              </a:spcBef>
              <a:spcAft>
                <a:spcPts val="0"/>
              </a:spcAft>
              <a:buSzPts val="21760"/>
              <a:buNone/>
              <a:defRPr sz="2176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800"/>
            <a:ext cx="164592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14450" lIns="414450" spcFirstLastPara="1" rIns="414450" wrap="square" tIns="41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7892320"/>
            <a:ext cx="14562600" cy="9486600"/>
          </a:xfrm>
          <a:prstGeom prst="rect">
            <a:avLst/>
          </a:prstGeom>
        </p:spPr>
        <p:txBody>
          <a:bodyPr anchorCtr="0" anchor="b" bIns="414450" lIns="414450" spcFirstLastPara="1" rIns="414450" wrap="square" tIns="414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2pPr>
            <a:lvl3pPr lvl="2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3pPr>
            <a:lvl4pPr lvl="3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4pPr>
            <a:lvl5pPr lvl="4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5pPr>
            <a:lvl6pPr lvl="5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6pPr>
            <a:lvl7pPr lvl="6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7pPr>
            <a:lvl8pPr lvl="7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8pPr>
            <a:lvl9pPr lvl="8" algn="ctr">
              <a:spcBef>
                <a:spcPts val="0"/>
              </a:spcBef>
              <a:spcAft>
                <a:spcPts val="0"/>
              </a:spcAft>
              <a:buSzPts val="19040"/>
              <a:buNone/>
              <a:defRPr sz="1904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7939680"/>
            <a:ext cx="14562600" cy="79047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20"/>
              <a:buNone/>
              <a:defRPr sz="952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4634080"/>
            <a:ext cx="13813200" cy="236487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indent="-746760" lvl="0" marL="457200">
              <a:spcBef>
                <a:spcPts val="0"/>
              </a:spcBef>
              <a:spcAft>
                <a:spcPts val="0"/>
              </a:spcAft>
              <a:buSzPts val="8160"/>
              <a:buChar char="●"/>
              <a:defRPr sz="8160"/>
            </a:lvl1pPr>
            <a:lvl2pPr indent="-631614" lvl="1" marL="9144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2pPr>
            <a:lvl3pPr indent="-631614" lvl="2" marL="13716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3pPr>
            <a:lvl4pPr indent="-631614" lvl="3" marL="18288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4pPr>
            <a:lvl5pPr indent="-631614" lvl="4" marL="22860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5pPr>
            <a:lvl6pPr indent="-631614" lvl="5" marL="27432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6pPr>
            <a:lvl7pPr indent="-631614" lvl="6" marL="3200400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7pPr>
            <a:lvl8pPr indent="-631614" lvl="7" marL="3657600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8pPr>
            <a:lvl9pPr indent="-631613" lvl="8" marL="4114800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27075680"/>
            <a:ext cx="21595800" cy="38727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60"/>
              <a:buNone/>
              <a:defRPr sz="816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7079200"/>
            <a:ext cx="30674100" cy="12566400"/>
          </a:xfrm>
          <a:prstGeom prst="rect">
            <a:avLst/>
          </a:prstGeom>
        </p:spPr>
        <p:txBody>
          <a:bodyPr anchorCtr="0" anchor="b" bIns="414450" lIns="414450" spcFirstLastPara="1" rIns="414450" wrap="square" tIns="414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400"/>
              <a:buNone/>
              <a:defRPr sz="54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20174240"/>
            <a:ext cx="30674100" cy="8325000"/>
          </a:xfrm>
          <a:prstGeom prst="rect">
            <a:avLst/>
          </a:prstGeom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746760" lvl="0" marL="457200" algn="ctr">
              <a:spcBef>
                <a:spcPts val="0"/>
              </a:spcBef>
              <a:spcAft>
                <a:spcPts val="0"/>
              </a:spcAft>
              <a:buSzPts val="8160"/>
              <a:buChar char="●"/>
              <a:defRPr sz="8160"/>
            </a:lvl1pPr>
            <a:lvl2pPr indent="-631614" lvl="1" marL="914400" algn="ctr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2pPr>
            <a:lvl3pPr indent="-631614" lvl="2" marL="1371600" algn="ctr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3pPr>
            <a:lvl4pPr indent="-631614" lvl="3" marL="1828800" algn="ctr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4pPr>
            <a:lvl5pPr indent="-631614" lvl="4" marL="2286000" algn="ctr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5pPr>
            <a:lvl6pPr indent="-631614" lvl="5" marL="2743200" algn="ctr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6pPr>
            <a:lvl7pPr indent="-631614" lvl="6" marL="3200400" algn="ctr">
              <a:spcBef>
                <a:spcPts val="0"/>
              </a:spcBef>
              <a:spcAft>
                <a:spcPts val="0"/>
              </a:spcAft>
              <a:buSzPts val="6347"/>
              <a:buChar char="●"/>
              <a:defRPr sz="6347"/>
            </a:lvl7pPr>
            <a:lvl8pPr indent="-631614" lvl="7" marL="3657600" algn="ctr">
              <a:spcBef>
                <a:spcPts val="0"/>
              </a:spcBef>
              <a:spcAft>
                <a:spcPts val="0"/>
              </a:spcAft>
              <a:buSzPts val="6347"/>
              <a:buChar char="○"/>
              <a:defRPr sz="6347"/>
            </a:lvl8pPr>
            <a:lvl9pPr indent="-631613" lvl="8" marL="4114800" algn="ctr">
              <a:spcBef>
                <a:spcPts val="0"/>
              </a:spcBef>
              <a:spcAft>
                <a:spcPts val="0"/>
              </a:spcAft>
              <a:buSzPts val="6347"/>
              <a:buChar char="■"/>
              <a:defRPr sz="634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>
              <a:buNone/>
              <a:defRPr sz="4533"/>
            </a:lvl1pPr>
            <a:lvl2pPr lvl="1">
              <a:buNone/>
              <a:defRPr sz="4533"/>
            </a:lvl2pPr>
            <a:lvl3pPr lvl="2">
              <a:buNone/>
              <a:defRPr sz="4533"/>
            </a:lvl3pPr>
            <a:lvl4pPr lvl="3">
              <a:buNone/>
              <a:defRPr sz="4533"/>
            </a:lvl4pPr>
            <a:lvl5pPr lvl="4">
              <a:buNone/>
              <a:defRPr sz="4533"/>
            </a:lvl5pPr>
            <a:lvl6pPr lvl="5">
              <a:buNone/>
              <a:defRPr sz="4533"/>
            </a:lvl6pPr>
            <a:lvl7pPr lvl="6">
              <a:buNone/>
              <a:defRPr sz="4533"/>
            </a:lvl7pPr>
            <a:lvl8pPr lvl="7">
              <a:buNone/>
              <a:defRPr sz="4533"/>
            </a:lvl8pPr>
            <a:lvl9pPr lvl="8">
              <a:buNone/>
              <a:defRPr sz="4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2848160"/>
            <a:ext cx="306741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450" lIns="414450" spcFirstLastPara="1" rIns="414450" wrap="square" tIns="414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93"/>
              <a:buNone/>
              <a:defRPr sz="12693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7375840"/>
            <a:ext cx="30674100" cy="21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450" lIns="414450" spcFirstLastPara="1" rIns="414450" wrap="square" tIns="414450">
            <a:normAutofit/>
          </a:bodyPr>
          <a:lstStyle>
            <a:lvl1pPr indent="-74676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60"/>
              <a:buChar char="●"/>
              <a:defRPr sz="8160">
                <a:solidFill>
                  <a:schemeClr val="dk2"/>
                </a:solidFill>
              </a:defRPr>
            </a:lvl1pPr>
            <a:lvl2pPr indent="-63161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○"/>
              <a:defRPr sz="6347">
                <a:solidFill>
                  <a:schemeClr val="dk2"/>
                </a:solidFill>
              </a:defRPr>
            </a:lvl2pPr>
            <a:lvl3pPr indent="-63161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■"/>
              <a:defRPr sz="6347">
                <a:solidFill>
                  <a:schemeClr val="dk2"/>
                </a:solidFill>
              </a:defRPr>
            </a:lvl3pPr>
            <a:lvl4pPr indent="-63161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●"/>
              <a:defRPr sz="6347">
                <a:solidFill>
                  <a:schemeClr val="dk2"/>
                </a:solidFill>
              </a:defRPr>
            </a:lvl4pPr>
            <a:lvl5pPr indent="-63161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○"/>
              <a:defRPr sz="6347">
                <a:solidFill>
                  <a:schemeClr val="dk2"/>
                </a:solidFill>
              </a:defRPr>
            </a:lvl5pPr>
            <a:lvl6pPr indent="-631614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■"/>
              <a:defRPr sz="6347">
                <a:solidFill>
                  <a:schemeClr val="dk2"/>
                </a:solidFill>
              </a:defRPr>
            </a:lvl6pPr>
            <a:lvl7pPr indent="-631614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●"/>
              <a:defRPr sz="6347">
                <a:solidFill>
                  <a:schemeClr val="dk2"/>
                </a:solidFill>
              </a:defRPr>
            </a:lvl7pPr>
            <a:lvl8pPr indent="-631614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○"/>
              <a:defRPr sz="6347">
                <a:solidFill>
                  <a:schemeClr val="dk2"/>
                </a:solidFill>
              </a:defRPr>
            </a:lvl8pPr>
            <a:lvl9pPr indent="-63161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47"/>
              <a:buChar char="■"/>
              <a:defRPr sz="634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29844588"/>
            <a:ext cx="19752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4450" lIns="414450" spcFirstLastPara="1" rIns="414450" wrap="square" tIns="414450">
            <a:normAutofit/>
          </a:bodyPr>
          <a:lstStyle>
            <a:lvl1pPr lvl="0" algn="r">
              <a:buNone/>
              <a:defRPr sz="4533">
                <a:solidFill>
                  <a:schemeClr val="dk2"/>
                </a:solidFill>
              </a:defRPr>
            </a:lvl1pPr>
            <a:lvl2pPr lvl="1" algn="r">
              <a:buNone/>
              <a:defRPr sz="4533">
                <a:solidFill>
                  <a:schemeClr val="dk2"/>
                </a:solidFill>
              </a:defRPr>
            </a:lvl2pPr>
            <a:lvl3pPr lvl="2" algn="r">
              <a:buNone/>
              <a:defRPr sz="4533">
                <a:solidFill>
                  <a:schemeClr val="dk2"/>
                </a:solidFill>
              </a:defRPr>
            </a:lvl3pPr>
            <a:lvl4pPr lvl="3" algn="r">
              <a:buNone/>
              <a:defRPr sz="4533">
                <a:solidFill>
                  <a:schemeClr val="dk2"/>
                </a:solidFill>
              </a:defRPr>
            </a:lvl4pPr>
            <a:lvl5pPr lvl="4" algn="r">
              <a:buNone/>
              <a:defRPr sz="4533">
                <a:solidFill>
                  <a:schemeClr val="dk2"/>
                </a:solidFill>
              </a:defRPr>
            </a:lvl5pPr>
            <a:lvl6pPr lvl="5" algn="r">
              <a:buNone/>
              <a:defRPr sz="4533">
                <a:solidFill>
                  <a:schemeClr val="dk2"/>
                </a:solidFill>
              </a:defRPr>
            </a:lvl6pPr>
            <a:lvl7pPr lvl="6" algn="r">
              <a:buNone/>
              <a:defRPr sz="4533">
                <a:solidFill>
                  <a:schemeClr val="dk2"/>
                </a:solidFill>
              </a:defRPr>
            </a:lvl7pPr>
            <a:lvl8pPr lvl="7" algn="r">
              <a:buNone/>
              <a:defRPr sz="4533">
                <a:solidFill>
                  <a:schemeClr val="dk2"/>
                </a:solidFill>
              </a:defRPr>
            </a:lvl8pPr>
            <a:lvl9pPr lvl="8" algn="r">
              <a:buNone/>
              <a:defRPr sz="453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13" Type="http://schemas.openxmlformats.org/officeDocument/2006/relationships/image" Target="../media/image2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3.png"/><Relationship Id="rId17" Type="http://schemas.openxmlformats.org/officeDocument/2006/relationships/image" Target="../media/image4.png"/><Relationship Id="rId16" Type="http://schemas.openxmlformats.org/officeDocument/2006/relationships/image" Target="../media/image5.png"/><Relationship Id="rId5" Type="http://schemas.openxmlformats.org/officeDocument/2006/relationships/image" Target="../media/image14.png"/><Relationship Id="rId19" Type="http://schemas.openxmlformats.org/officeDocument/2006/relationships/image" Target="../media/image10.png"/><Relationship Id="rId6" Type="http://schemas.openxmlformats.org/officeDocument/2006/relationships/image" Target="../media/image1.png"/><Relationship Id="rId18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5" y="5450"/>
            <a:ext cx="32918400" cy="2856600"/>
          </a:xfrm>
          <a:prstGeom prst="rect">
            <a:avLst/>
          </a:prstGeom>
          <a:solidFill>
            <a:srgbClr val="D45A3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	</a:t>
            </a:r>
            <a:r>
              <a:rPr lang="en" sz="70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InfernoCommand: A Fire-Relative Reinforcement Learning Framework for Multi-Resource Wildfire Response on a Real Los Angeles Terrain Model</a:t>
            </a:r>
            <a:endParaRPr sz="7000">
              <a:solidFill>
                <a:schemeClr val="lt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Amey Garg, Indraneel Adem, Leo Lin, Ayan D. Tuteja, Aaryan Samanta - UCLA COSMOS Cluster 1</a:t>
            </a:r>
            <a:endParaRPr sz="3500">
              <a:solidFill>
                <a:schemeClr val="lt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18875" y="2935346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Background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572511" y="2935344"/>
            <a:ext cx="157734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Data Sources &amp; Environment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4569925" y="2910923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Key Findings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18875" y="3653250"/>
            <a:ext cx="8229600" cy="7812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Wildfires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are getting more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frequent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and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destructive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 Incident commanders must send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limited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resources, like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ground crews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helicopters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to fight a fire that keeps spreading and changing direction, under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extreme time pressure.</a:t>
            </a:r>
            <a:endParaRPr b="1" sz="21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Bad allocation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decisions cost structures and lives, and a human commander can only track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so many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moving pieces at once.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Our course required combining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four core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ML ideas into one agent: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CNN, MLP, Classification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Reinforcement Learning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InfernoCommand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trains this agent on a real 3D model of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LA's Westside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(Topanga, Brentwood, Bel-Air, Westwood, UCLA), built from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 terrain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road, building, and population data.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project is grounded in the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real Palisades Fire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(see Case Study), so the agent is tested against conditions from an actual, historically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destructive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fire.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main goal is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generalization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: a policy that only works where it was trained isn't useful in real life, since fires never start in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same spot twice.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2767" l="3084" r="5408" t="4080"/>
          <a:stretch/>
        </p:blipFill>
        <p:spPr>
          <a:xfrm>
            <a:off x="377400" y="8931950"/>
            <a:ext cx="3630274" cy="239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225" y="8931949"/>
            <a:ext cx="3224820" cy="23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18863" y="11483389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Existing Research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8875" y="12155700"/>
            <a:ext cx="8229600" cy="1114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Deep Q-Networks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actor-critic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methods have shown that agents can learn to make sequential decisions by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interacting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with an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environment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and getting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rewarded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for good outcomes.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Prior disaster-response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grid-based dispatch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models typically use a fixed set of zones or grid cells as the action space, letting the agent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pick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which zone to send a resource to.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Fire-spread models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in the literature are usually driven by wind, slope, and fuel type, with real fires known to jump firebreaks through wind-blown embers, a well-documented behavior in fires like the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Palisades Fire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Most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existing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wildfire RL work is tested on a single training scenario or a simplified grid, without much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focus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on whether the learned policy holds up on a fire that starts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somewhere new.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63" name="Google Shape;63;p13"/>
          <p:cNvGraphicFramePr/>
          <p:nvPr/>
        </p:nvGraphicFramePr>
        <p:xfrm>
          <a:off x="208838" y="1701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{7797C8F6-CE9A-4EC6-8B7F-92B3B0DA9CFE}</a:tableStyleId>
              </a:tblPr>
              <a:tblGrid>
                <a:gridCol w="2683225"/>
                <a:gridCol w="2683225"/>
                <a:gridCol w="268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System</a:t>
                      </a:r>
                      <a:endParaRPr b="1"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Approach</a:t>
                      </a:r>
                      <a:endParaRPr b="1"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Reported Performance</a:t>
                      </a:r>
                      <a:endParaRPr b="1"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SimFire / SimHarness (MITRE, 2023)</a:t>
                      </a:r>
                      <a:endParaRPr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RL land-management agent</a:t>
                      </a:r>
                      <a:endParaRPr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FF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Not Reported-Open Source</a:t>
                      </a:r>
                      <a:endParaRPr b="1" sz="2000">
                        <a:solidFill>
                          <a:srgbClr val="FF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2286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Cell2Fire + DRL Firebreak Placement (2025)</a:t>
                      </a:r>
                      <a:endParaRPr sz="29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RL firebreak placement</a:t>
                      </a:r>
                      <a:endParaRPr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rgbClr val="FF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1.6–1.7% better burned area vs. heuristic, 4.8–6.8% better vs. random</a:t>
                      </a:r>
                      <a:endParaRPr sz="20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2286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FireCastRL (2026)</a:t>
                      </a:r>
                      <a:endParaRPr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Barlow"/>
                          <a:ea typeface="Barlow"/>
                          <a:cs typeface="Barlow"/>
                          <a:sym typeface="Barlow"/>
                        </a:rPr>
                        <a:t>Ignition forecast + RL helitack suppression</a:t>
                      </a:r>
                      <a:endParaRPr sz="20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rgbClr val="FF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Reports time-to-containment as a metric type, but no headline % published in available text</a:t>
                      </a:r>
                      <a:endParaRPr sz="20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" name="Google Shape;64;p13"/>
          <p:cNvSpPr txBox="1"/>
          <p:nvPr/>
        </p:nvSpPr>
        <p:spPr>
          <a:xfrm>
            <a:off x="118875" y="16459200"/>
            <a:ext cx="8229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Current Prediction Approaches</a:t>
            </a:r>
            <a:endParaRPr b="1" sz="25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67532" y="22013034"/>
            <a:ext cx="79323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Limitation: Existing systems operate over a fixed spatial index (grid cell or zone) and mostly report framework capability or narrow improvement margins rather than generalization to unseen ignition points, the exact gap InfernoCommand's fire-relative action space targets.</a:t>
            </a:r>
            <a:endParaRPr b="1" sz="18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18863" y="23252340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Research Gap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18900" y="23962225"/>
            <a:ext cx="8229600" cy="8956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Absolute zone-index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action spaces are inherently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memorizable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 Telling the agent to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"dispatch to zone 18"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only works because that zone happens to hold the fire in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one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training scenario, so it can't transfer to a fire starting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anywhere else.</a:t>
            </a:r>
            <a:endParaRPr b="1" sz="21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 fires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don't start in the same place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twice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 A policy that only works at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one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ignition point has no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real-world value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no matter how well it scores there.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Most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existing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wildfire RL work (see Existing Research) reports results on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single fixed scenario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or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simplified grid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without rigorously testing whether the learned policy holds up on a held-out,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unseen ignition point.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Early attempts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on this project using an absolute zone-based action space confirmed this exact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failure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mode: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strong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performance on the training scenario, but a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severe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drop in reward and containment on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held-out locations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This project directly targets that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gap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: building a dispatch policy that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generalizes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to new ignition points instead of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memorizing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one.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68" name="Google Shape;68;p13" title="absolute_zone_train_vs_heldout.png"/>
          <p:cNvPicPr preferRelativeResize="0"/>
          <p:nvPr/>
        </p:nvPicPr>
        <p:blipFill rotWithShape="1">
          <a:blip r:embed="rId5">
            <a:alphaModFix/>
          </a:blip>
          <a:srcRect b="10322" l="4407" r="0" t="0"/>
          <a:stretch/>
        </p:blipFill>
        <p:spPr>
          <a:xfrm>
            <a:off x="171825" y="30182200"/>
            <a:ext cx="3224824" cy="226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infernocommand_architecture.png"/>
          <p:cNvPicPr preferRelativeResize="0"/>
          <p:nvPr/>
        </p:nvPicPr>
        <p:blipFill rotWithShape="1">
          <a:blip r:embed="rId6">
            <a:alphaModFix/>
          </a:blip>
          <a:srcRect b="9685" l="0" r="4288" t="8789"/>
          <a:stretch/>
        </p:blipFill>
        <p:spPr>
          <a:xfrm>
            <a:off x="3312100" y="30068475"/>
            <a:ext cx="4982350" cy="254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8572500" y="3653250"/>
            <a:ext cx="15773400" cy="6454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simulation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runs on a real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595×316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grid covering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LA's Westside corridor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(Topanga, Brentwood, Bel-Air, Westwood, UCLA), built entirely from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 data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not synthetic terrain.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Roads, buildings, elevation, weather, and population layers are pulled from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OSMnx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LA GeoHub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LARIAC4, USGS 3DEP, NOAA ASOS,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US Census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sources.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Resource dispatch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is grounded in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8 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eal LAFD stations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15 real units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(water teams, brush crews, rescue vehicles, helicopters), matched to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actual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station locations and apparatus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types.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71" name="Google Shape;71;p13" title="grid_visualization.png"/>
          <p:cNvPicPr preferRelativeResize="0"/>
          <p:nvPr/>
        </p:nvPicPr>
        <p:blipFill rotWithShape="1">
          <a:blip r:embed="rId7">
            <a:alphaModFix/>
          </a:blip>
          <a:srcRect b="0" l="0" r="0" t="8859"/>
          <a:stretch/>
        </p:blipFill>
        <p:spPr>
          <a:xfrm>
            <a:off x="9151775" y="5637100"/>
            <a:ext cx="11610798" cy="4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 title="grid_overlay_check.png"/>
          <p:cNvPicPr preferRelativeResize="0"/>
          <p:nvPr/>
        </p:nvPicPr>
        <p:blipFill rotWithShape="1">
          <a:blip r:embed="rId8">
            <a:alphaModFix/>
          </a:blip>
          <a:srcRect b="8313" l="1629" r="1416" t="8054"/>
          <a:stretch/>
        </p:blipFill>
        <p:spPr>
          <a:xfrm rot="-5400000">
            <a:off x="20054025" y="6544624"/>
            <a:ext cx="4510350" cy="2334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/>
          <p:nvPr/>
        </p:nvSpPr>
        <p:spPr>
          <a:xfrm>
            <a:off x="8572786" y="10105329"/>
            <a:ext cx="157734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Palisades Case Study &amp; Fire-Spread Validation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8572775" y="10777625"/>
            <a:ext cx="15773400" cy="6454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simulation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is grounded in the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real Palisades Fire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(Jan 7–31, 2025): ~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23,400 acres burned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~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6,800 structures destroyed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12 deaths,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driven by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Santa Ana conditions — humidity crashed to 0.67%, sustained winds of 25.3 mph.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Fire spreads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through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physics-based rule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combining wind, slope, fuel, and road resistance, including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ember spotting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: burning cells can ignite fuel several cells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downwind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jumping roads at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high wind speeds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Validated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against the real historical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Palisades burn perimeter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(WFIGS data): IoU 0.636,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recall 90.7%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confirming the simulated fire behaves like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 fire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and is not plausible looking.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75" name="Google Shape;75;p13" title="wfigs_validation_overlay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766937" y="12911075"/>
            <a:ext cx="7331639" cy="399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 title="fire_sim_progression.png"/>
          <p:cNvPicPr preferRelativeResize="0"/>
          <p:nvPr/>
        </p:nvPicPr>
        <p:blipFill rotWithShape="1">
          <a:blip r:embed="rId10">
            <a:alphaModFix/>
          </a:blip>
          <a:srcRect b="48438" l="0" r="50055" t="15973"/>
          <a:stretch/>
        </p:blipFill>
        <p:spPr>
          <a:xfrm>
            <a:off x="8803750" y="12493180"/>
            <a:ext cx="3860777" cy="115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 title="fire_sim_progression.png"/>
          <p:cNvPicPr preferRelativeResize="0"/>
          <p:nvPr/>
        </p:nvPicPr>
        <p:blipFill rotWithShape="1">
          <a:blip r:embed="rId10">
            <a:alphaModFix/>
          </a:blip>
          <a:srcRect b="48438" l="50055" r="0" t="15973"/>
          <a:stretch/>
        </p:blipFill>
        <p:spPr>
          <a:xfrm>
            <a:off x="8844419" y="13626990"/>
            <a:ext cx="3860777" cy="115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 title="fire_sim_progression.png"/>
          <p:cNvPicPr preferRelativeResize="0"/>
          <p:nvPr/>
        </p:nvPicPr>
        <p:blipFill rotWithShape="1">
          <a:blip r:embed="rId10">
            <a:alphaModFix/>
          </a:blip>
          <a:srcRect b="11234" l="50055" r="0" t="50968"/>
          <a:stretch/>
        </p:blipFill>
        <p:spPr>
          <a:xfrm>
            <a:off x="8844418" y="15924602"/>
            <a:ext cx="3860777" cy="122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 title="fire_sim_progression.png"/>
          <p:cNvPicPr preferRelativeResize="0"/>
          <p:nvPr/>
        </p:nvPicPr>
        <p:blipFill rotWithShape="1">
          <a:blip r:embed="rId10">
            <a:alphaModFix/>
          </a:blip>
          <a:srcRect b="11234" l="0" r="50055" t="50968"/>
          <a:stretch/>
        </p:blipFill>
        <p:spPr>
          <a:xfrm>
            <a:off x="8803750" y="14740666"/>
            <a:ext cx="3860777" cy="122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 title="before_after_high_wind_45mph.png"/>
          <p:cNvPicPr preferRelativeResize="0"/>
          <p:nvPr/>
        </p:nvPicPr>
        <p:blipFill rotWithShape="1">
          <a:blip r:embed="rId11">
            <a:alphaModFix/>
          </a:blip>
          <a:srcRect b="3176" l="50037" r="0" t="7610"/>
          <a:stretch/>
        </p:blipFill>
        <p:spPr>
          <a:xfrm>
            <a:off x="20082794" y="14748348"/>
            <a:ext cx="3929227" cy="225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 title="before_after_high_wind_45mph.png"/>
          <p:cNvPicPr preferRelativeResize="0"/>
          <p:nvPr/>
        </p:nvPicPr>
        <p:blipFill rotWithShape="1">
          <a:blip r:embed="rId11">
            <a:alphaModFix/>
          </a:blip>
          <a:srcRect b="3176" l="0" r="50037" t="7610"/>
          <a:stretch/>
        </p:blipFill>
        <p:spPr>
          <a:xfrm>
            <a:off x="20051142" y="12493175"/>
            <a:ext cx="3929227" cy="225517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8546053" y="17248117"/>
            <a:ext cx="157734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Investigation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572775" y="17964100"/>
            <a:ext cx="15773400" cy="58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model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fuses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CNN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(spatial grid), an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MLP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(weather/resource scalars),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classification head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(per-cell Safe/Fuel/Threat/Blaze labels), and an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actor-critic RL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policy that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dispatches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resources.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latin typeface="Barlow"/>
                <a:ea typeface="Barlow"/>
                <a:cs typeface="Barlow"/>
                <a:sym typeface="Barlow"/>
              </a:rPr>
              <a:t>Early attempts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using absolute zone indices as the action space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memorized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training scenario and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collapsed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 held-out fires (see Research Gap).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A deep investigation across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seven model versions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traced a separate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 training instability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to a specific cause: a rewrite introducing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GAE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(Generalized Advantage Estimation) made the critic's value estimates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anti-correlated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with reality in short, near-instantly-contained episodes — exactly the trajectories a good policy most needs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reinforced.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This pointed to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deeper issue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: the real bottleneck wasn't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RL algorithm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it was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action space itself.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84" name="Google Shape;84;p13" title="relative_action_mechanism.png"/>
          <p:cNvPicPr preferRelativeResize="0"/>
          <p:nvPr/>
        </p:nvPicPr>
        <p:blipFill rotWithShape="1">
          <a:blip r:embed="rId12">
            <a:alphaModFix/>
          </a:blip>
          <a:srcRect b="0" l="9817" r="2062" t="0"/>
          <a:stretch/>
        </p:blipFill>
        <p:spPr>
          <a:xfrm>
            <a:off x="9385332" y="20683051"/>
            <a:ext cx="4484575" cy="305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model_evolution_timeline.png"/>
          <p:cNvPicPr preferRelativeResize="0"/>
          <p:nvPr/>
        </p:nvPicPr>
        <p:blipFill rotWithShape="1">
          <a:blip r:embed="rId13">
            <a:alphaModFix/>
          </a:blip>
          <a:srcRect b="31648" l="0" r="0" t="28890"/>
          <a:stretch/>
        </p:blipFill>
        <p:spPr>
          <a:xfrm>
            <a:off x="14285581" y="21015663"/>
            <a:ext cx="9524995" cy="22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8572778" y="23856267"/>
            <a:ext cx="157734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The Relative-Action Model (v8)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572775" y="24536976"/>
            <a:ext cx="15773400" cy="8381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Instead of choosing a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fixed zone index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the model resolves the live fire state into up to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6 semantic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candidates each tick, wherever they currently are: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active_fire, downwind_fire_front, adjacent_fuel, threatened_population, nearest_reachable_fire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noop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model first picks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resource type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(water team, brush crew, rescue vehicle, or helicopter), then scores these candidates using each one's own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local features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(fire, fuel, population, travel time) plus a learned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resource-type embedding.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"Send the helicopter to the fire"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means the same thing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no matter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where the fire started, so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policy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transfers to new ignition points instead of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memorizing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one location.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This also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shrinks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action space from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32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fixed zones down to about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6 relative options,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giving the model a stronger, denser training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signal per decision.	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88" name="Google Shape;88;p13" title="action_space_shrink_vertical.png"/>
          <p:cNvPicPr preferRelativeResize="0"/>
          <p:nvPr/>
        </p:nvPicPr>
        <p:blipFill rotWithShape="1">
          <a:blip r:embed="rId14">
            <a:alphaModFix/>
          </a:blip>
          <a:srcRect b="15704" l="19192" r="16665" t="3514"/>
          <a:stretch/>
        </p:blipFill>
        <p:spPr>
          <a:xfrm>
            <a:off x="9940000" y="26994475"/>
            <a:ext cx="3224826" cy="5753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Screenshot 2026-07-31 at 1.25.09 P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921425" y="27348159"/>
            <a:ext cx="9525002" cy="468806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4496675" y="32036225"/>
            <a:ext cx="83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Barlow"/>
                <a:ea typeface="Barlow"/>
                <a:cs typeface="Barlow"/>
                <a:sym typeface="Barlow"/>
              </a:rPr>
              <a:t>Integration of Model in 3D </a:t>
            </a:r>
            <a:r>
              <a:rPr b="1" lang="en" sz="1800">
                <a:latin typeface="Barlow"/>
                <a:ea typeface="Barlow"/>
                <a:cs typeface="Barlow"/>
                <a:sym typeface="Barlow"/>
              </a:rPr>
              <a:t>Environment</a:t>
            </a:r>
            <a:r>
              <a:rPr b="1" lang="en" sz="1800">
                <a:latin typeface="Barlow"/>
                <a:ea typeface="Barlow"/>
                <a:cs typeface="Barlow"/>
                <a:sym typeface="Barlow"/>
              </a:rPr>
              <a:t> (Check interactable at presentation area)</a:t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4570475" y="3615100"/>
            <a:ext cx="8229600" cy="1559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fire-relative model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(v8, checkpoint ep2000) was tested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against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heuristic baseline on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four real scenarios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using full multi-dispatch,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correct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way to evaluate this model.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v8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clearly outperforms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heuristic on the two hardest, most dangerous scenarios: the training anchor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(Skull Rock)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and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multi-ignition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scenario, cutting buildings destroyed substantially in both cases.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On the two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smaller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held-out scenarios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(Mandeville Canyon, Getty View Park),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heuristic is slightly ahead on reward, though containment is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identical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between the two policies on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every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scenario tested.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On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matched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tick-by-tick trace of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real Palisades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scenario, both policies fully contained the fire with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zero buildings lost.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heuristic did it slightly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faster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(26 ticks, 29-cell scar) than the model (40 ticks, 45-cell scar), showing room to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improve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 speed even where outcomes match.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Overall: a real, honest, mixed result. v8 wins where it matters most (the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harder scenarios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), ties on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containment everywhere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and still has ground to make up on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efficiency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in the easier cases.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92" name="Google Shape;92;p13" title="model_vs_heuristic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5915041" y="13248825"/>
            <a:ext cx="5539350" cy="33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v8_results_summary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5915600" y="9851993"/>
            <a:ext cx="5539340" cy="332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title="palisades_heuristic_vs_model.png"/>
          <p:cNvPicPr preferRelativeResize="0"/>
          <p:nvPr/>
        </p:nvPicPr>
        <p:blipFill rotWithShape="1">
          <a:blip r:embed="rId18">
            <a:alphaModFix/>
          </a:blip>
          <a:srcRect b="0" l="0" r="2105" t="0"/>
          <a:stretch/>
        </p:blipFill>
        <p:spPr>
          <a:xfrm>
            <a:off x="24660425" y="16711775"/>
            <a:ext cx="4070725" cy="24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title="palisades_actual_vs_model_containment.png"/>
          <p:cNvPicPr preferRelativeResize="0"/>
          <p:nvPr/>
        </p:nvPicPr>
        <p:blipFill rotWithShape="1">
          <a:blip r:embed="rId19">
            <a:alphaModFix/>
          </a:blip>
          <a:srcRect b="0" l="5348" r="0" t="0"/>
          <a:stretch/>
        </p:blipFill>
        <p:spPr>
          <a:xfrm>
            <a:off x="28731150" y="16734944"/>
            <a:ext cx="3941852" cy="243010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24570475" y="19177626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Conclusion &amp; Limitations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4570475" y="19862500"/>
            <a:ext cx="8229600" cy="5307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Redesigning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the action space, not tuning the RL algorithm, was what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actually solved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generalization problem. Absolute zone indices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memorized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one ignition point;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resolving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fire-relative semantic candidates let the same policy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transfer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to new locations.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seven-version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investigation into the earlier collapse, though a series of "negative" results on their own terms, correctly diagnosed the </a:t>
            </a: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real bottleneck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: a GAE-driven critic instability in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near-terminal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states masked by a deeper structural issue in how actions were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represented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The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final model (v8)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shows a real, honest, mixed result against the heuristic baseline: it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wins decisively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 the harder, more dangerous scenarios,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ties on containment everywhere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and still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trails slightly in efficiency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 the easier cases.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This is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meaningful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step toward a wildfire dispatch agent that works on the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next fire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, not just the one it was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trained on.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24570475" y="25170401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Future Work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4570450" y="25826175"/>
            <a:ext cx="8229600" cy="1772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Finish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multi-dispatch training (v10)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to attack the fleet-capacity ceiling,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swap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in real LANDFIRE fuel data for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 more accurate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fire-spread physics.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-"/>
            </a:pP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Validate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against real structure-damage data and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test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on more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ignition points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to get a </a:t>
            </a:r>
            <a:r>
              <a:rPr b="1" lang="en" sz="2100">
                <a:latin typeface="Barlow"/>
                <a:ea typeface="Barlow"/>
                <a:cs typeface="Barlow"/>
                <a:sym typeface="Barlow"/>
              </a:rPr>
              <a:t>stronger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measure of generalization.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24570450" y="27598876"/>
            <a:ext cx="8229600" cy="672300"/>
          </a:xfrm>
          <a:prstGeom prst="roundRect">
            <a:avLst>
              <a:gd fmla="val 16667" name="adj"/>
            </a:avLst>
          </a:prstGeom>
          <a:solidFill>
            <a:srgbClr val="D45A3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Sources &amp; Acknowledgements</a:t>
            </a:r>
            <a:endParaRPr b="1" sz="4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4574375" y="28254650"/>
            <a:ext cx="8229600" cy="4688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Data Sources</a:t>
            </a:r>
            <a:endParaRPr i="1"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OpenStreetMap contributors. OSMnx road network data.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County GeoHub. LARIAC4 building footprint dataset.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USGS. 3D Elevation Program (3DEP), 10m DEM.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NOAA. ASOS station KSMO (Santa Monica Airport), historical weather data.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U.S. Census Bureau. American Community Survey (ACS) block-group population data.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County GeoHub / WFIGS. Palisades Fire perimeter data, 2025.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LAFD. Fire Station Directory.</a:t>
            </a:r>
            <a:endParaRPr b="1" sz="19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Literature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"/>
                <a:ea typeface="Barlow"/>
                <a:cs typeface="Barlow"/>
                <a:sym typeface="Barlow"/>
              </a:rPr>
              <a:t>Tapley, A., Dotter, M., Doyle, M., Fennelly, A., Gandikota, D., Smith, S., Threet, M., &amp; Welsh, T. (2023). Reinforcement Learning for Wildfire Mitigation in Simulated Disaster Environments. arXiv:2311.15925.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"/>
                <a:ea typeface="Barlow"/>
                <a:cs typeface="Barlow"/>
                <a:sym typeface="Barlow"/>
              </a:rPr>
              <a:t>Murray, L., Castillo, T., Martín de Diego, I., Weber, R., González-Olabarria, J. R., Garcia-Gonzalo, J., Weintraub, A., &amp; Carrasco, J. (2025). Deep reinforcement learning for optimal firebreak placement in forest fire prevention. Applied Soft Computing.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"/>
                <a:ea typeface="Barlow"/>
                <a:cs typeface="Barlow"/>
                <a:sym typeface="Barlow"/>
              </a:rPr>
              <a:t>Mathur, S., et al. (2026). Spatiotemporal Wildfire Prediction and Reinforcement Learning for Helitack Suppression. arXiv:2601.14238.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4497463" y="32384125"/>
            <a:ext cx="83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Barlow"/>
                <a:ea typeface="Barlow"/>
                <a:cs typeface="Barlow"/>
                <a:sym typeface="Barlow"/>
              </a:rPr>
              <a:t>We would like to thank Professor Hugh Tad Blair for his support and guidance.</a:t>
            </a:r>
            <a:endParaRPr b="1"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